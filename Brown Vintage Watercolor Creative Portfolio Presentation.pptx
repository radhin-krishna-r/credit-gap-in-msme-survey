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Linux Biolinum Bold" charset="1" panose="02000803000000000000"/>
      <p:regular r:id="rId19"/>
    </p:embeddedFont>
    <p:embeddedFont>
      <p:font typeface="Comforter Brush" charset="1" panose="00000000000000000000"/>
      <p:regular r:id="rId20"/>
    </p:embeddedFont>
    <p:embeddedFont>
      <p:font typeface="Brittany" charset="1" panose="00000000000000000000"/>
      <p:regular r:id="rId21"/>
    </p:embeddedFont>
    <p:embeddedFont>
      <p:font typeface="Canva Student Font" charset="1" panose="00000000000000000000"/>
      <p:regular r:id="rId22"/>
    </p:embeddedFont>
    <p:embeddedFont>
      <p:font typeface="Nefelibata Brush Canvas"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12" Target="../media/image22.png" Type="http://schemas.openxmlformats.org/officeDocument/2006/relationships/image"/><Relationship Id="rId13" Target="../media/image23.svg" Type="http://schemas.openxmlformats.org/officeDocument/2006/relationships/image"/><Relationship Id="rId2" Target="../media/image12.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sv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2" Target="../media/image12.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jpeg" Type="http://schemas.openxmlformats.org/officeDocument/2006/relationships/image"/><Relationship Id="rId2" Target="../media/image28.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3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034" r="0" b="-5034"/>
            </a:stretch>
          </a:blipFill>
        </p:spPr>
      </p:sp>
      <p:grpSp>
        <p:nvGrpSpPr>
          <p:cNvPr name="Group 3" id="3"/>
          <p:cNvGrpSpPr/>
          <p:nvPr/>
        </p:nvGrpSpPr>
        <p:grpSpPr>
          <a:xfrm rot="0">
            <a:off x="4189917" y="310793"/>
            <a:ext cx="11839974" cy="4731652"/>
            <a:chOff x="0" y="0"/>
            <a:chExt cx="3118347" cy="1246196"/>
          </a:xfrm>
        </p:grpSpPr>
        <p:sp>
          <p:nvSpPr>
            <p:cNvPr name="Freeform 4" id="4"/>
            <p:cNvSpPr/>
            <p:nvPr/>
          </p:nvSpPr>
          <p:spPr>
            <a:xfrm flipH="false" flipV="false" rot="0">
              <a:off x="0" y="0"/>
              <a:ext cx="3118347" cy="1246196"/>
            </a:xfrm>
            <a:custGeom>
              <a:avLst/>
              <a:gdLst/>
              <a:ahLst/>
              <a:cxnLst/>
              <a:rect r="r" b="b" t="t" l="l"/>
              <a:pathLst>
                <a:path h="1246196" w="3118347">
                  <a:moveTo>
                    <a:pt x="18963" y="0"/>
                  </a:moveTo>
                  <a:lnTo>
                    <a:pt x="3099384" y="0"/>
                  </a:lnTo>
                  <a:cubicBezTo>
                    <a:pt x="3109857" y="0"/>
                    <a:pt x="3118347" y="8490"/>
                    <a:pt x="3118347" y="18963"/>
                  </a:cubicBezTo>
                  <a:lnTo>
                    <a:pt x="3118347" y="1227234"/>
                  </a:lnTo>
                  <a:cubicBezTo>
                    <a:pt x="3118347" y="1232263"/>
                    <a:pt x="3116349" y="1237086"/>
                    <a:pt x="3112793" y="1240642"/>
                  </a:cubicBezTo>
                  <a:cubicBezTo>
                    <a:pt x="3109237" y="1244199"/>
                    <a:pt x="3104414" y="1246196"/>
                    <a:pt x="3099384" y="1246196"/>
                  </a:cubicBezTo>
                  <a:lnTo>
                    <a:pt x="18963" y="1246196"/>
                  </a:lnTo>
                  <a:cubicBezTo>
                    <a:pt x="13933" y="1246196"/>
                    <a:pt x="9110" y="1244199"/>
                    <a:pt x="5554" y="1240642"/>
                  </a:cubicBezTo>
                  <a:cubicBezTo>
                    <a:pt x="1998" y="1237086"/>
                    <a:pt x="0" y="1232263"/>
                    <a:pt x="0" y="1227234"/>
                  </a:cubicBezTo>
                  <a:lnTo>
                    <a:pt x="0" y="18963"/>
                  </a:lnTo>
                  <a:cubicBezTo>
                    <a:pt x="0" y="13933"/>
                    <a:pt x="1998" y="9110"/>
                    <a:pt x="5554" y="5554"/>
                  </a:cubicBezTo>
                  <a:cubicBezTo>
                    <a:pt x="9110" y="1998"/>
                    <a:pt x="13933" y="0"/>
                    <a:pt x="18963" y="0"/>
                  </a:cubicBezTo>
                  <a:close/>
                </a:path>
              </a:pathLst>
            </a:custGeom>
            <a:solidFill>
              <a:srgbClr val="FCF7EC">
                <a:alpha val="49804"/>
              </a:srgbClr>
            </a:solidFill>
          </p:spPr>
        </p:sp>
        <p:sp>
          <p:nvSpPr>
            <p:cNvPr name="TextBox 5" id="5"/>
            <p:cNvSpPr txBox="true"/>
            <p:nvPr/>
          </p:nvSpPr>
          <p:spPr>
            <a:xfrm>
              <a:off x="0" y="-38100"/>
              <a:ext cx="3118347" cy="1284296"/>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5400000">
            <a:off x="-4072185" y="4072185"/>
            <a:ext cx="10832414" cy="2688043"/>
          </a:xfrm>
          <a:custGeom>
            <a:avLst/>
            <a:gdLst/>
            <a:ahLst/>
            <a:cxnLst/>
            <a:rect r="r" b="b" t="t" l="l"/>
            <a:pathLst>
              <a:path h="2688043" w="10832414">
                <a:moveTo>
                  <a:pt x="0" y="0"/>
                </a:moveTo>
                <a:lnTo>
                  <a:pt x="10832413" y="0"/>
                </a:lnTo>
                <a:lnTo>
                  <a:pt x="10832413" y="2688043"/>
                </a:lnTo>
                <a:lnTo>
                  <a:pt x="0" y="2688043"/>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56716" y="-110230"/>
            <a:ext cx="1313433" cy="10507460"/>
          </a:xfrm>
          <a:custGeom>
            <a:avLst/>
            <a:gdLst/>
            <a:ahLst/>
            <a:cxnLst/>
            <a:rect r="r" b="b" t="t" l="l"/>
            <a:pathLst>
              <a:path h="10507460" w="1313433">
                <a:moveTo>
                  <a:pt x="0" y="0"/>
                </a:moveTo>
                <a:lnTo>
                  <a:pt x="1313432" y="0"/>
                </a:lnTo>
                <a:lnTo>
                  <a:pt x="1313432" y="10507460"/>
                </a:lnTo>
                <a:lnTo>
                  <a:pt x="0" y="105074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7755204" y="7273112"/>
            <a:ext cx="3003804" cy="4114800"/>
          </a:xfrm>
          <a:custGeom>
            <a:avLst/>
            <a:gdLst/>
            <a:ahLst/>
            <a:cxnLst/>
            <a:rect r="r" b="b" t="t" l="l"/>
            <a:pathLst>
              <a:path h="4114800" w="3003804">
                <a:moveTo>
                  <a:pt x="0" y="0"/>
                </a:moveTo>
                <a:lnTo>
                  <a:pt x="3003804" y="0"/>
                </a:lnTo>
                <a:lnTo>
                  <a:pt x="3003804"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4555848" y="873518"/>
            <a:ext cx="11108113" cy="4168927"/>
          </a:xfrm>
          <a:prstGeom prst="rect">
            <a:avLst/>
          </a:prstGeom>
        </p:spPr>
        <p:txBody>
          <a:bodyPr anchor="t" rtlCol="false" tIns="0" lIns="0" bIns="0" rIns="0">
            <a:spAutoFit/>
          </a:bodyPr>
          <a:lstStyle/>
          <a:p>
            <a:pPr algn="ctr">
              <a:lnSpc>
                <a:spcPts val="8304"/>
              </a:lnSpc>
            </a:pPr>
            <a:r>
              <a:rPr lang="en-US" b="true" sz="5931">
                <a:solidFill>
                  <a:srgbClr val="231F20"/>
                </a:solidFill>
                <a:latin typeface="Linux Biolinum Bold"/>
                <a:ea typeface="Linux Biolinum Bold"/>
                <a:cs typeface="Linux Biolinum Bold"/>
                <a:sym typeface="Linux Biolinum Bold"/>
              </a:rPr>
              <a:t>CREDIT ACCESS AND FINANCIAL INCLUSION: AN EMPIRICAL STUDY OF INDIAN MSME’S</a:t>
            </a:r>
          </a:p>
        </p:txBody>
      </p:sp>
      <p:sp>
        <p:nvSpPr>
          <p:cNvPr name="Freeform 10" id="10"/>
          <p:cNvSpPr/>
          <p:nvPr/>
        </p:nvSpPr>
        <p:spPr>
          <a:xfrm flipH="false" flipV="false" rot="-10635856">
            <a:off x="1440508" y="288290"/>
            <a:ext cx="3003804" cy="4114800"/>
          </a:xfrm>
          <a:custGeom>
            <a:avLst/>
            <a:gdLst/>
            <a:ahLst/>
            <a:cxnLst/>
            <a:rect r="r" b="b" t="t" l="l"/>
            <a:pathLst>
              <a:path h="4114800" w="3003804">
                <a:moveTo>
                  <a:pt x="0" y="0"/>
                </a:moveTo>
                <a:lnTo>
                  <a:pt x="3003804" y="0"/>
                </a:lnTo>
                <a:lnTo>
                  <a:pt x="3003804"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5400000">
            <a:off x="2592654" y="6050907"/>
            <a:ext cx="3003804" cy="4114800"/>
          </a:xfrm>
          <a:custGeom>
            <a:avLst/>
            <a:gdLst/>
            <a:ahLst/>
            <a:cxnLst/>
            <a:rect r="r" b="b" t="t" l="l"/>
            <a:pathLst>
              <a:path h="4114800" w="3003804">
                <a:moveTo>
                  <a:pt x="0" y="0"/>
                </a:moveTo>
                <a:lnTo>
                  <a:pt x="3003804" y="0"/>
                </a:lnTo>
                <a:lnTo>
                  <a:pt x="3003804"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96492">
            <a:off x="14704618" y="5982579"/>
            <a:ext cx="3003804" cy="4114800"/>
          </a:xfrm>
          <a:custGeom>
            <a:avLst/>
            <a:gdLst/>
            <a:ahLst/>
            <a:cxnLst/>
            <a:rect r="r" b="b" t="t" l="l"/>
            <a:pathLst>
              <a:path h="4114800" w="3003804">
                <a:moveTo>
                  <a:pt x="0" y="0"/>
                </a:moveTo>
                <a:lnTo>
                  <a:pt x="3003804" y="0"/>
                </a:lnTo>
                <a:lnTo>
                  <a:pt x="3003804"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5355228" y="-546344"/>
            <a:ext cx="3374136" cy="4114800"/>
          </a:xfrm>
          <a:custGeom>
            <a:avLst/>
            <a:gdLst/>
            <a:ahLst/>
            <a:cxnLst/>
            <a:rect r="r" b="b" t="t" l="l"/>
            <a:pathLst>
              <a:path h="4114800" w="3374136">
                <a:moveTo>
                  <a:pt x="0" y="0"/>
                </a:moveTo>
                <a:lnTo>
                  <a:pt x="3374136" y="0"/>
                </a:lnTo>
                <a:lnTo>
                  <a:pt x="3374136"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1701608" y="7362914"/>
            <a:ext cx="3990308" cy="2553797"/>
          </a:xfrm>
          <a:custGeom>
            <a:avLst/>
            <a:gdLst/>
            <a:ahLst/>
            <a:cxnLst/>
            <a:rect r="r" b="b" t="t" l="l"/>
            <a:pathLst>
              <a:path h="2553797" w="3990308">
                <a:moveTo>
                  <a:pt x="0" y="0"/>
                </a:moveTo>
                <a:lnTo>
                  <a:pt x="3990308" y="0"/>
                </a:lnTo>
                <a:lnTo>
                  <a:pt x="3990308" y="2553797"/>
                </a:lnTo>
                <a:lnTo>
                  <a:pt x="0" y="25537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472259" y="-680029"/>
            <a:ext cx="3374136" cy="4114800"/>
          </a:xfrm>
          <a:custGeom>
            <a:avLst/>
            <a:gdLst/>
            <a:ahLst/>
            <a:cxnLst/>
            <a:rect r="r" b="b" t="t" l="l"/>
            <a:pathLst>
              <a:path h="4114800" w="3374136">
                <a:moveTo>
                  <a:pt x="0" y="0"/>
                </a:moveTo>
                <a:lnTo>
                  <a:pt x="3374136" y="0"/>
                </a:lnTo>
                <a:lnTo>
                  <a:pt x="3374136"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983" r="0" b="-4983"/>
            </a:stretch>
          </a:blipFill>
        </p:spPr>
      </p:sp>
      <p:sp>
        <p:nvSpPr>
          <p:cNvPr name="Freeform 3" id="3"/>
          <p:cNvSpPr/>
          <p:nvPr/>
        </p:nvSpPr>
        <p:spPr>
          <a:xfrm flipH="false" flipV="false" rot="5400000">
            <a:off x="5071815" y="4072185"/>
            <a:ext cx="10832414" cy="2688043"/>
          </a:xfrm>
          <a:custGeom>
            <a:avLst/>
            <a:gdLst/>
            <a:ahLst/>
            <a:cxnLst/>
            <a:rect r="r" b="b" t="t" l="l"/>
            <a:pathLst>
              <a:path h="2688043" w="10832414">
                <a:moveTo>
                  <a:pt x="0" y="0"/>
                </a:moveTo>
                <a:lnTo>
                  <a:pt x="10832413" y="0"/>
                </a:lnTo>
                <a:lnTo>
                  <a:pt x="10832413" y="2688043"/>
                </a:lnTo>
                <a:lnTo>
                  <a:pt x="0" y="2688043"/>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9957" y="1325121"/>
            <a:ext cx="7460477" cy="1840521"/>
          </a:xfrm>
          <a:prstGeom prst="rect">
            <a:avLst/>
          </a:prstGeom>
        </p:spPr>
        <p:txBody>
          <a:bodyPr anchor="t" rtlCol="false" tIns="0" lIns="0" bIns="0" rIns="0">
            <a:spAutoFit/>
          </a:bodyPr>
          <a:lstStyle/>
          <a:p>
            <a:pPr algn="ctr">
              <a:lnSpc>
                <a:spcPts val="14993"/>
              </a:lnSpc>
            </a:pPr>
            <a:r>
              <a:rPr lang="en-US" b="true" sz="10709">
                <a:solidFill>
                  <a:srgbClr val="231F20"/>
                </a:solidFill>
                <a:latin typeface="Linux Biolinum Bold"/>
                <a:ea typeface="Linux Biolinum Bold"/>
                <a:cs typeface="Linux Biolinum Bold"/>
                <a:sym typeface="Linux Biolinum Bold"/>
              </a:rPr>
              <a:t>MSME </a:t>
            </a:r>
          </a:p>
        </p:txBody>
      </p:sp>
      <p:sp>
        <p:nvSpPr>
          <p:cNvPr name="Freeform 5" id="5"/>
          <p:cNvSpPr/>
          <p:nvPr/>
        </p:nvSpPr>
        <p:spPr>
          <a:xfrm flipH="false" flipV="false" rot="0">
            <a:off x="260493" y="27145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5400000">
            <a:off x="11846083" y="3655935"/>
            <a:ext cx="10832414" cy="2688043"/>
          </a:xfrm>
          <a:custGeom>
            <a:avLst/>
            <a:gdLst/>
            <a:ahLst/>
            <a:cxnLst/>
            <a:rect r="r" b="b" t="t" l="l"/>
            <a:pathLst>
              <a:path h="2688043" w="10832414">
                <a:moveTo>
                  <a:pt x="0" y="2688043"/>
                </a:moveTo>
                <a:lnTo>
                  <a:pt x="10832414" y="2688043"/>
                </a:lnTo>
                <a:lnTo>
                  <a:pt x="10832414" y="0"/>
                </a:lnTo>
                <a:lnTo>
                  <a:pt x="0" y="0"/>
                </a:lnTo>
                <a:lnTo>
                  <a:pt x="0" y="2688043"/>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3674361" y="505739"/>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5071815" y="3799478"/>
            <a:ext cx="10832414" cy="2688043"/>
          </a:xfrm>
          <a:custGeom>
            <a:avLst/>
            <a:gdLst/>
            <a:ahLst/>
            <a:cxnLst/>
            <a:rect r="r" b="b" t="t" l="l"/>
            <a:pathLst>
              <a:path h="2688043" w="10832414">
                <a:moveTo>
                  <a:pt x="0" y="0"/>
                </a:moveTo>
                <a:lnTo>
                  <a:pt x="10832413" y="0"/>
                </a:lnTo>
                <a:lnTo>
                  <a:pt x="10832413" y="2688044"/>
                </a:lnTo>
                <a:lnTo>
                  <a:pt x="0" y="268804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true" rot="5400000">
            <a:off x="2383772" y="3799478"/>
            <a:ext cx="10832414" cy="2688043"/>
          </a:xfrm>
          <a:custGeom>
            <a:avLst/>
            <a:gdLst/>
            <a:ahLst/>
            <a:cxnLst/>
            <a:rect r="r" b="b" t="t" l="l"/>
            <a:pathLst>
              <a:path h="2688043" w="10832414">
                <a:moveTo>
                  <a:pt x="0" y="2688044"/>
                </a:moveTo>
                <a:lnTo>
                  <a:pt x="10832413" y="2688044"/>
                </a:lnTo>
                <a:lnTo>
                  <a:pt x="10832413" y="0"/>
                </a:lnTo>
                <a:lnTo>
                  <a:pt x="0" y="0"/>
                </a:lnTo>
                <a:lnTo>
                  <a:pt x="0" y="2688044"/>
                </a:lnTo>
                <a:close/>
              </a:path>
            </a:pathLst>
          </a:custGeom>
          <a:blipFill>
            <a:blip r:embed="rId3">
              <a:alphaModFix amt="51000"/>
              <a:extLst>
                <a:ext uri="{96DAC541-7B7A-43D3-8B79-37D633B846F1}">
                  <asvg:svgBlip xmlns:asvg="http://schemas.microsoft.com/office/drawing/2016/SVG/main" r:embed="rId4"/>
                </a:ext>
              </a:extLst>
            </a:blip>
            <a:stretch>
              <a:fillRect l="0" t="0" r="0" b="0"/>
            </a:stretch>
          </a:blipFill>
        </p:spPr>
      </p:sp>
      <p:sp>
        <p:nvSpPr>
          <p:cNvPr name="AutoShape 10" id="10"/>
          <p:cNvSpPr/>
          <p:nvPr/>
        </p:nvSpPr>
        <p:spPr>
          <a:xfrm flipH="true">
            <a:off x="9144000" y="-416250"/>
            <a:ext cx="0" cy="10975957"/>
          </a:xfrm>
          <a:prstGeom prst="line">
            <a:avLst/>
          </a:prstGeom>
          <a:ln cap="flat" w="38100">
            <a:solidFill>
              <a:srgbClr val="231F20">
                <a:alpha val="44706"/>
              </a:srgbClr>
            </a:solidFill>
            <a:prstDash val="solid"/>
            <a:headEnd type="none" len="sm" w="sm"/>
            <a:tailEnd type="none" len="sm" w="sm"/>
          </a:ln>
        </p:spPr>
      </p:sp>
      <p:sp>
        <p:nvSpPr>
          <p:cNvPr name="Freeform 11" id="11"/>
          <p:cNvSpPr/>
          <p:nvPr/>
        </p:nvSpPr>
        <p:spPr>
          <a:xfrm flipH="false" flipV="false" rot="5400000">
            <a:off x="-4072185" y="4072185"/>
            <a:ext cx="10832414" cy="2688043"/>
          </a:xfrm>
          <a:custGeom>
            <a:avLst/>
            <a:gdLst/>
            <a:ahLst/>
            <a:cxnLst/>
            <a:rect r="r" b="b" t="t" l="l"/>
            <a:pathLst>
              <a:path h="2688043" w="10832414">
                <a:moveTo>
                  <a:pt x="0" y="0"/>
                </a:moveTo>
                <a:lnTo>
                  <a:pt x="10832413" y="0"/>
                </a:lnTo>
                <a:lnTo>
                  <a:pt x="10832413" y="2688043"/>
                </a:lnTo>
                <a:lnTo>
                  <a:pt x="0" y="2688043"/>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4516370" y="2897160"/>
            <a:ext cx="4418080" cy="1489098"/>
          </a:xfrm>
          <a:prstGeom prst="rect">
            <a:avLst/>
          </a:prstGeom>
        </p:spPr>
        <p:txBody>
          <a:bodyPr anchor="t" rtlCol="false" tIns="0" lIns="0" bIns="0" rIns="0">
            <a:spAutoFit/>
          </a:bodyPr>
          <a:lstStyle/>
          <a:p>
            <a:pPr algn="r">
              <a:lnSpc>
                <a:spcPts val="12160"/>
              </a:lnSpc>
            </a:pPr>
            <a:r>
              <a:rPr lang="en-US" sz="8685">
                <a:solidFill>
                  <a:srgbClr val="231F20"/>
                </a:solidFill>
                <a:latin typeface="Comforter Brush"/>
                <a:ea typeface="Comforter Brush"/>
                <a:cs typeface="Comforter Brush"/>
                <a:sym typeface="Comforter Brush"/>
              </a:rPr>
              <a:t>Credit Gap</a:t>
            </a:r>
          </a:p>
        </p:txBody>
      </p:sp>
      <p:sp>
        <p:nvSpPr>
          <p:cNvPr name="TextBox 13" id="13"/>
          <p:cNvSpPr txBox="true"/>
          <p:nvPr/>
        </p:nvSpPr>
        <p:spPr>
          <a:xfrm rot="0">
            <a:off x="12043553" y="1405492"/>
            <a:ext cx="3517822" cy="2629411"/>
          </a:xfrm>
          <a:prstGeom prst="rect">
            <a:avLst/>
          </a:prstGeom>
        </p:spPr>
        <p:txBody>
          <a:bodyPr anchor="t" rtlCol="false" tIns="0" lIns="0" bIns="0" rIns="0">
            <a:spAutoFit/>
          </a:bodyPr>
          <a:lstStyle/>
          <a:p>
            <a:pPr algn="ctr">
              <a:lnSpc>
                <a:spcPts val="7252"/>
              </a:lnSpc>
            </a:pPr>
            <a:r>
              <a:rPr lang="en-US" sz="3047" spc="533">
                <a:solidFill>
                  <a:srgbClr val="231F20"/>
                </a:solidFill>
                <a:latin typeface="Brittany"/>
                <a:ea typeface="Brittany"/>
                <a:cs typeface="Brittany"/>
                <a:sym typeface="Brittany"/>
              </a:rPr>
              <a:t>Presented by </a:t>
            </a:r>
          </a:p>
          <a:p>
            <a:pPr algn="ctr">
              <a:lnSpc>
                <a:spcPts val="7252"/>
              </a:lnSpc>
            </a:pPr>
            <a:r>
              <a:rPr lang="en-US" sz="3047" spc="533">
                <a:solidFill>
                  <a:srgbClr val="231F20"/>
                </a:solidFill>
                <a:latin typeface="Brittany"/>
                <a:ea typeface="Brittany"/>
                <a:cs typeface="Brittany"/>
                <a:sym typeface="Brittany"/>
              </a:rPr>
              <a:t>Radhin Krishna</a:t>
            </a:r>
          </a:p>
          <a:p>
            <a:pPr algn="ctr">
              <a:lnSpc>
                <a:spcPts val="7252"/>
              </a:lnSpc>
            </a:pPr>
            <a:r>
              <a:rPr lang="en-US" sz="3047" spc="533">
                <a:solidFill>
                  <a:srgbClr val="231F20"/>
                </a:solidFill>
                <a:latin typeface="Brittany"/>
                <a:ea typeface="Brittany"/>
                <a:cs typeface="Brittany"/>
                <a:sym typeface="Brittany"/>
              </a:rPr>
              <a:t>Haripriya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983" r="0" b="-4983"/>
            </a:stretch>
          </a:blipFill>
        </p:spPr>
      </p:sp>
      <p:sp>
        <p:nvSpPr>
          <p:cNvPr name="Freeform 3" id="3"/>
          <p:cNvSpPr/>
          <p:nvPr/>
        </p:nvSpPr>
        <p:spPr>
          <a:xfrm flipH="false" flipV="false" rot="5400000">
            <a:off x="-4387507" y="3799478"/>
            <a:ext cx="10832414" cy="2688043"/>
          </a:xfrm>
          <a:custGeom>
            <a:avLst/>
            <a:gdLst/>
            <a:ahLst/>
            <a:cxnLst/>
            <a:rect r="r" b="b" t="t" l="l"/>
            <a:pathLst>
              <a:path h="2688043" w="10832414">
                <a:moveTo>
                  <a:pt x="0" y="0"/>
                </a:moveTo>
                <a:lnTo>
                  <a:pt x="10832414" y="0"/>
                </a:lnTo>
                <a:lnTo>
                  <a:pt x="10832414" y="2688044"/>
                </a:lnTo>
                <a:lnTo>
                  <a:pt x="0" y="268804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82671" y="50573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5400000">
            <a:off x="11846083" y="3655935"/>
            <a:ext cx="10832414" cy="2688043"/>
          </a:xfrm>
          <a:custGeom>
            <a:avLst/>
            <a:gdLst/>
            <a:ahLst/>
            <a:cxnLst/>
            <a:rect r="r" b="b" t="t" l="l"/>
            <a:pathLst>
              <a:path h="2688043" w="10832414">
                <a:moveTo>
                  <a:pt x="0" y="2688043"/>
                </a:moveTo>
                <a:lnTo>
                  <a:pt x="10832414" y="2688043"/>
                </a:lnTo>
                <a:lnTo>
                  <a:pt x="10832414" y="0"/>
                </a:lnTo>
                <a:lnTo>
                  <a:pt x="0" y="0"/>
                </a:lnTo>
                <a:lnTo>
                  <a:pt x="0" y="2688043"/>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3674361" y="505739"/>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0149653" y="1028700"/>
            <a:ext cx="6945944" cy="8428051"/>
            <a:chOff x="0" y="0"/>
            <a:chExt cx="1829384" cy="2219734"/>
          </a:xfrm>
        </p:grpSpPr>
        <p:sp>
          <p:nvSpPr>
            <p:cNvPr name="Freeform 8" id="8"/>
            <p:cNvSpPr/>
            <p:nvPr/>
          </p:nvSpPr>
          <p:spPr>
            <a:xfrm flipH="false" flipV="false" rot="0">
              <a:off x="0" y="0"/>
              <a:ext cx="1829384" cy="2219734"/>
            </a:xfrm>
            <a:custGeom>
              <a:avLst/>
              <a:gdLst/>
              <a:ahLst/>
              <a:cxnLst/>
              <a:rect r="r" b="b" t="t" l="l"/>
              <a:pathLst>
                <a:path h="2219734" w="1829384">
                  <a:moveTo>
                    <a:pt x="32323" y="0"/>
                  </a:moveTo>
                  <a:lnTo>
                    <a:pt x="1797061" y="0"/>
                  </a:lnTo>
                  <a:cubicBezTo>
                    <a:pt x="1814913" y="0"/>
                    <a:pt x="1829384" y="14472"/>
                    <a:pt x="1829384" y="32323"/>
                  </a:cubicBezTo>
                  <a:lnTo>
                    <a:pt x="1829384" y="2187410"/>
                  </a:lnTo>
                  <a:cubicBezTo>
                    <a:pt x="1829384" y="2205262"/>
                    <a:pt x="1814913" y="2219734"/>
                    <a:pt x="1797061" y="2219734"/>
                  </a:cubicBezTo>
                  <a:lnTo>
                    <a:pt x="32323" y="2219734"/>
                  </a:lnTo>
                  <a:cubicBezTo>
                    <a:pt x="14472" y="2219734"/>
                    <a:pt x="0" y="2205262"/>
                    <a:pt x="0" y="2187410"/>
                  </a:cubicBezTo>
                  <a:lnTo>
                    <a:pt x="0" y="32323"/>
                  </a:lnTo>
                  <a:cubicBezTo>
                    <a:pt x="0" y="14472"/>
                    <a:pt x="14472" y="0"/>
                    <a:pt x="32323" y="0"/>
                  </a:cubicBezTo>
                  <a:close/>
                </a:path>
              </a:pathLst>
            </a:custGeom>
            <a:solidFill>
              <a:srgbClr val="FCF7EC">
                <a:alpha val="49804"/>
              </a:srgbClr>
            </a:solidFill>
          </p:spPr>
        </p:sp>
        <p:sp>
          <p:nvSpPr>
            <p:cNvPr name="TextBox 9" id="9"/>
            <p:cNvSpPr txBox="true"/>
            <p:nvPr/>
          </p:nvSpPr>
          <p:spPr>
            <a:xfrm>
              <a:off x="0" y="-38100"/>
              <a:ext cx="1829384" cy="2257834"/>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5071815" y="3799478"/>
            <a:ext cx="10832414" cy="2688043"/>
          </a:xfrm>
          <a:custGeom>
            <a:avLst/>
            <a:gdLst/>
            <a:ahLst/>
            <a:cxnLst/>
            <a:rect r="r" b="b" t="t" l="l"/>
            <a:pathLst>
              <a:path h="2688043" w="10832414">
                <a:moveTo>
                  <a:pt x="0" y="0"/>
                </a:moveTo>
                <a:lnTo>
                  <a:pt x="10832413" y="0"/>
                </a:lnTo>
                <a:lnTo>
                  <a:pt x="10832413" y="2688044"/>
                </a:lnTo>
                <a:lnTo>
                  <a:pt x="0" y="2688044"/>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true" rot="5400000">
            <a:off x="2383772" y="3799478"/>
            <a:ext cx="10832414" cy="2688043"/>
          </a:xfrm>
          <a:custGeom>
            <a:avLst/>
            <a:gdLst/>
            <a:ahLst/>
            <a:cxnLst/>
            <a:rect r="r" b="b" t="t" l="l"/>
            <a:pathLst>
              <a:path h="2688043" w="10832414">
                <a:moveTo>
                  <a:pt x="0" y="2688044"/>
                </a:moveTo>
                <a:lnTo>
                  <a:pt x="10832413" y="2688044"/>
                </a:lnTo>
                <a:lnTo>
                  <a:pt x="10832413" y="0"/>
                </a:lnTo>
                <a:lnTo>
                  <a:pt x="0" y="0"/>
                </a:lnTo>
                <a:lnTo>
                  <a:pt x="0" y="2688044"/>
                </a:lnTo>
                <a:close/>
              </a:path>
            </a:pathLst>
          </a:custGeom>
          <a:blipFill>
            <a:blip r:embed="rId7">
              <a:alphaModFix amt="51000"/>
              <a:extLst>
                <a:ext uri="{96DAC541-7B7A-43D3-8B79-37D633B846F1}">
                  <asvg:svgBlip xmlns:asvg="http://schemas.microsoft.com/office/drawing/2016/SVG/main" r:embed="rId8"/>
                </a:ext>
              </a:extLst>
            </a:blip>
            <a:stretch>
              <a:fillRect l="0" t="0" r="0" b="0"/>
            </a:stretch>
          </a:blipFill>
        </p:spPr>
      </p:sp>
      <p:sp>
        <p:nvSpPr>
          <p:cNvPr name="AutoShape 12" id="12"/>
          <p:cNvSpPr/>
          <p:nvPr/>
        </p:nvSpPr>
        <p:spPr>
          <a:xfrm flipH="true">
            <a:off x="9144000" y="-416250"/>
            <a:ext cx="0" cy="10975957"/>
          </a:xfrm>
          <a:prstGeom prst="line">
            <a:avLst/>
          </a:prstGeom>
          <a:ln cap="flat" w="38100">
            <a:solidFill>
              <a:srgbClr val="231F20">
                <a:alpha val="44706"/>
              </a:srgbClr>
            </a:solidFill>
            <a:prstDash val="solid"/>
            <a:headEnd type="none" len="sm" w="sm"/>
            <a:tailEnd type="none" len="sm" w="sm"/>
          </a:ln>
        </p:spPr>
      </p:sp>
      <p:sp>
        <p:nvSpPr>
          <p:cNvPr name="TextBox 13" id="13"/>
          <p:cNvSpPr txBox="true"/>
          <p:nvPr/>
        </p:nvSpPr>
        <p:spPr>
          <a:xfrm rot="0">
            <a:off x="10488022" y="2156518"/>
            <a:ext cx="6162719" cy="6229565"/>
          </a:xfrm>
          <a:prstGeom prst="rect">
            <a:avLst/>
          </a:prstGeom>
        </p:spPr>
        <p:txBody>
          <a:bodyPr anchor="t" rtlCol="false" tIns="0" lIns="0" bIns="0" rIns="0">
            <a:spAutoFit/>
          </a:bodyPr>
          <a:lstStyle/>
          <a:p>
            <a:pPr algn="l">
              <a:lnSpc>
                <a:spcPts val="3758"/>
              </a:lnSpc>
            </a:pPr>
            <a:r>
              <a:rPr lang="en-US" sz="3758">
                <a:solidFill>
                  <a:srgbClr val="000000">
                    <a:alpha val="77647"/>
                  </a:srgbClr>
                </a:solidFill>
                <a:latin typeface="Canva Student Font"/>
                <a:ea typeface="Canva Student Font"/>
                <a:cs typeface="Canva Student Font"/>
                <a:sym typeface="Canva Student Font"/>
              </a:rPr>
              <a:t>Businesses commonly require credit to:</a:t>
            </a:r>
          </a:p>
          <a:p>
            <a:pPr algn="l">
              <a:lnSpc>
                <a:spcPts val="3758"/>
              </a:lnSpc>
            </a:pPr>
          </a:p>
          <a:p>
            <a:pPr algn="l" marL="811448" indent="-405724" lvl="1">
              <a:lnSpc>
                <a:spcPts val="3758"/>
              </a:lnSpc>
              <a:buFont typeface="Arial"/>
              <a:buChar char="•"/>
            </a:pPr>
            <a:r>
              <a:rPr lang="en-US" sz="3758">
                <a:solidFill>
                  <a:srgbClr val="000000">
                    <a:alpha val="77647"/>
                  </a:srgbClr>
                </a:solidFill>
                <a:latin typeface="Canva Student Font"/>
                <a:ea typeface="Canva Student Font"/>
                <a:cs typeface="Canva Student Font"/>
                <a:sym typeface="Canva Student Font"/>
              </a:rPr>
              <a:t>Start or expand their operations</a:t>
            </a:r>
          </a:p>
          <a:p>
            <a:pPr algn="l" marL="811448" indent="-405724" lvl="1">
              <a:lnSpc>
                <a:spcPts val="3758"/>
              </a:lnSpc>
              <a:buFont typeface="Arial"/>
              <a:buChar char="•"/>
            </a:pPr>
            <a:r>
              <a:rPr lang="en-US" sz="3758">
                <a:solidFill>
                  <a:srgbClr val="000000">
                    <a:alpha val="77647"/>
                  </a:srgbClr>
                </a:solidFill>
                <a:latin typeface="Canva Student Font"/>
                <a:ea typeface="Canva Student Font"/>
                <a:cs typeface="Canva Student Font"/>
                <a:sym typeface="Canva Student Font"/>
              </a:rPr>
              <a:t>Purchase machinery, equipment and assets</a:t>
            </a:r>
          </a:p>
          <a:p>
            <a:pPr algn="l" marL="811448" indent="-405724" lvl="1">
              <a:lnSpc>
                <a:spcPts val="3758"/>
              </a:lnSpc>
              <a:buFont typeface="Arial"/>
              <a:buChar char="•"/>
            </a:pPr>
            <a:r>
              <a:rPr lang="en-US" sz="3758">
                <a:solidFill>
                  <a:srgbClr val="000000">
                    <a:alpha val="77647"/>
                  </a:srgbClr>
                </a:solidFill>
                <a:latin typeface="Canva Student Font"/>
                <a:ea typeface="Canva Student Font"/>
                <a:cs typeface="Canva Student Font"/>
                <a:sym typeface="Canva Student Font"/>
              </a:rPr>
              <a:t>Buy raw materials and inventory</a:t>
            </a:r>
          </a:p>
          <a:p>
            <a:pPr algn="l" marL="811448" indent="-405724" lvl="1">
              <a:lnSpc>
                <a:spcPts val="3758"/>
              </a:lnSpc>
              <a:buFont typeface="Arial"/>
              <a:buChar char="•"/>
            </a:pPr>
            <a:r>
              <a:rPr lang="en-US" sz="3758">
                <a:solidFill>
                  <a:srgbClr val="000000">
                    <a:alpha val="77647"/>
                  </a:srgbClr>
                </a:solidFill>
                <a:latin typeface="Canva Student Font"/>
                <a:ea typeface="Canva Student Font"/>
                <a:cs typeface="Canva Student Font"/>
                <a:sym typeface="Canva Student Font"/>
              </a:rPr>
              <a:t>Pay wages, rent and other operating expenses</a:t>
            </a:r>
          </a:p>
          <a:p>
            <a:pPr algn="l" marL="811448" indent="-405724" lvl="1">
              <a:lnSpc>
                <a:spcPts val="3758"/>
              </a:lnSpc>
              <a:buFont typeface="Arial"/>
              <a:buChar char="•"/>
            </a:pPr>
            <a:r>
              <a:rPr lang="en-US" sz="3758">
                <a:solidFill>
                  <a:srgbClr val="000000">
                    <a:alpha val="77647"/>
                  </a:srgbClr>
                </a:solidFill>
                <a:latin typeface="Canva Student Font"/>
                <a:ea typeface="Canva Student Font"/>
                <a:cs typeface="Canva Student Font"/>
                <a:sym typeface="Canva Student Font"/>
              </a:rPr>
              <a:t>Manage temporary cash-flow shortages</a:t>
            </a:r>
          </a:p>
          <a:p>
            <a:pPr algn="l" marL="811448" indent="-405724" lvl="1">
              <a:lnSpc>
                <a:spcPts val="3758"/>
              </a:lnSpc>
              <a:buFont typeface="Arial"/>
              <a:buChar char="•"/>
            </a:pPr>
            <a:r>
              <a:rPr lang="en-US" sz="3758">
                <a:solidFill>
                  <a:srgbClr val="000000">
                    <a:alpha val="77647"/>
                  </a:srgbClr>
                </a:solidFill>
                <a:latin typeface="Canva Student Font"/>
                <a:ea typeface="Canva Student Font"/>
                <a:cs typeface="Canva Student Font"/>
                <a:sym typeface="Canva Student Font"/>
              </a:rPr>
              <a:t>Take advantage of new business opportunities</a:t>
            </a:r>
          </a:p>
          <a:p>
            <a:pPr algn="l">
              <a:lnSpc>
                <a:spcPts val="3758"/>
              </a:lnSpc>
            </a:pPr>
          </a:p>
        </p:txBody>
      </p:sp>
      <p:sp>
        <p:nvSpPr>
          <p:cNvPr name="Freeform 14" id="14"/>
          <p:cNvSpPr/>
          <p:nvPr/>
        </p:nvSpPr>
        <p:spPr>
          <a:xfrm flipH="false" flipV="false" rot="5400000">
            <a:off x="5071815" y="4072185"/>
            <a:ext cx="10832414" cy="2688043"/>
          </a:xfrm>
          <a:custGeom>
            <a:avLst/>
            <a:gdLst/>
            <a:ahLst/>
            <a:cxnLst/>
            <a:rect r="r" b="b" t="t" l="l"/>
            <a:pathLst>
              <a:path h="2688043" w="10832414">
                <a:moveTo>
                  <a:pt x="0" y="0"/>
                </a:moveTo>
                <a:lnTo>
                  <a:pt x="10832413" y="0"/>
                </a:lnTo>
                <a:lnTo>
                  <a:pt x="10832413" y="2688043"/>
                </a:lnTo>
                <a:lnTo>
                  <a:pt x="0" y="2688043"/>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098113" y="3080277"/>
            <a:ext cx="7036237" cy="1502645"/>
          </a:xfrm>
          <a:prstGeom prst="rect">
            <a:avLst/>
          </a:prstGeom>
        </p:spPr>
        <p:txBody>
          <a:bodyPr anchor="t" rtlCol="false" tIns="0" lIns="0" bIns="0" rIns="0">
            <a:spAutoFit/>
          </a:bodyPr>
          <a:lstStyle/>
          <a:p>
            <a:pPr algn="ctr">
              <a:lnSpc>
                <a:spcPts val="11389"/>
              </a:lnSpc>
            </a:pPr>
            <a:r>
              <a:rPr lang="en-US" sz="11389">
                <a:solidFill>
                  <a:srgbClr val="231F20"/>
                </a:solidFill>
                <a:latin typeface="Comforter Brush"/>
                <a:ea typeface="Comforter Brush"/>
                <a:cs typeface="Comforter Brush"/>
                <a:sym typeface="Comforter Brush"/>
              </a:rPr>
              <a:t>What is Credit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96" t="0" r="-396" b="0"/>
            </a:stretch>
          </a:blipFill>
        </p:spPr>
      </p:sp>
      <p:sp>
        <p:nvSpPr>
          <p:cNvPr name="Freeform 3" id="3"/>
          <p:cNvSpPr/>
          <p:nvPr/>
        </p:nvSpPr>
        <p:spPr>
          <a:xfrm flipH="false" flipV="false" rot="5400000">
            <a:off x="-4387507" y="3799478"/>
            <a:ext cx="10832414" cy="2688043"/>
          </a:xfrm>
          <a:custGeom>
            <a:avLst/>
            <a:gdLst/>
            <a:ahLst/>
            <a:cxnLst/>
            <a:rect r="r" b="b" t="t" l="l"/>
            <a:pathLst>
              <a:path h="2688043" w="10832414">
                <a:moveTo>
                  <a:pt x="0" y="0"/>
                </a:moveTo>
                <a:lnTo>
                  <a:pt x="10832414" y="0"/>
                </a:lnTo>
                <a:lnTo>
                  <a:pt x="10832414" y="2688044"/>
                </a:lnTo>
                <a:lnTo>
                  <a:pt x="0" y="268804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11846083" y="3655935"/>
            <a:ext cx="10832414" cy="2688043"/>
          </a:xfrm>
          <a:custGeom>
            <a:avLst/>
            <a:gdLst/>
            <a:ahLst/>
            <a:cxnLst/>
            <a:rect r="r" b="b" t="t" l="l"/>
            <a:pathLst>
              <a:path h="2688043" w="10832414">
                <a:moveTo>
                  <a:pt x="0" y="2688043"/>
                </a:moveTo>
                <a:lnTo>
                  <a:pt x="10832414" y="2688043"/>
                </a:lnTo>
                <a:lnTo>
                  <a:pt x="10832414" y="0"/>
                </a:lnTo>
                <a:lnTo>
                  <a:pt x="0" y="0"/>
                </a:lnTo>
                <a:lnTo>
                  <a:pt x="0" y="2688043"/>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071815" y="3799478"/>
            <a:ext cx="10832414" cy="2688043"/>
          </a:xfrm>
          <a:custGeom>
            <a:avLst/>
            <a:gdLst/>
            <a:ahLst/>
            <a:cxnLst/>
            <a:rect r="r" b="b" t="t" l="l"/>
            <a:pathLst>
              <a:path h="2688043" w="10832414">
                <a:moveTo>
                  <a:pt x="0" y="0"/>
                </a:moveTo>
                <a:lnTo>
                  <a:pt x="10832413" y="0"/>
                </a:lnTo>
                <a:lnTo>
                  <a:pt x="10832413" y="2688044"/>
                </a:lnTo>
                <a:lnTo>
                  <a:pt x="0" y="2688044"/>
                </a:lnTo>
                <a:lnTo>
                  <a:pt x="0" y="0"/>
                </a:lnTo>
                <a:close/>
              </a:path>
            </a:pathLst>
          </a:custGeom>
          <a:blipFill>
            <a:blip r:embed="rId5">
              <a:alphaModFix amt="50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5400000">
            <a:off x="2383772" y="3799478"/>
            <a:ext cx="10832414" cy="2688043"/>
          </a:xfrm>
          <a:custGeom>
            <a:avLst/>
            <a:gdLst/>
            <a:ahLst/>
            <a:cxnLst/>
            <a:rect r="r" b="b" t="t" l="l"/>
            <a:pathLst>
              <a:path h="2688043" w="10832414">
                <a:moveTo>
                  <a:pt x="0" y="2688044"/>
                </a:moveTo>
                <a:lnTo>
                  <a:pt x="10832413" y="2688044"/>
                </a:lnTo>
                <a:lnTo>
                  <a:pt x="10832413" y="0"/>
                </a:lnTo>
                <a:lnTo>
                  <a:pt x="0" y="0"/>
                </a:lnTo>
                <a:lnTo>
                  <a:pt x="0" y="2688044"/>
                </a:lnTo>
                <a:close/>
              </a:path>
            </a:pathLst>
          </a:custGeom>
          <a:blipFill>
            <a:blip r:embed="rId5">
              <a:alphaModFix amt="51000"/>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flipH="true">
            <a:off x="9144000" y="-416250"/>
            <a:ext cx="0" cy="10975957"/>
          </a:xfrm>
          <a:prstGeom prst="line">
            <a:avLst/>
          </a:prstGeom>
          <a:ln cap="flat" w="38100">
            <a:solidFill>
              <a:srgbClr val="231F20">
                <a:alpha val="44706"/>
              </a:srgbClr>
            </a:solidFill>
            <a:prstDash val="solid"/>
            <a:headEnd type="none" len="sm" w="sm"/>
            <a:tailEnd type="none" len="sm" w="sm"/>
          </a:ln>
        </p:spPr>
      </p:sp>
      <p:sp>
        <p:nvSpPr>
          <p:cNvPr name="Freeform 8" id="8"/>
          <p:cNvSpPr/>
          <p:nvPr/>
        </p:nvSpPr>
        <p:spPr>
          <a:xfrm flipH="false" flipV="false" rot="5400000">
            <a:off x="5071815" y="4072185"/>
            <a:ext cx="10832414" cy="2688043"/>
          </a:xfrm>
          <a:custGeom>
            <a:avLst/>
            <a:gdLst/>
            <a:ahLst/>
            <a:cxnLst/>
            <a:rect r="r" b="b" t="t" l="l"/>
            <a:pathLst>
              <a:path h="2688043" w="10832414">
                <a:moveTo>
                  <a:pt x="0" y="0"/>
                </a:moveTo>
                <a:lnTo>
                  <a:pt x="10832413" y="0"/>
                </a:lnTo>
                <a:lnTo>
                  <a:pt x="10832413" y="2688043"/>
                </a:lnTo>
                <a:lnTo>
                  <a:pt x="0" y="2688043"/>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9762414" y="1028700"/>
            <a:ext cx="6945944" cy="8428051"/>
            <a:chOff x="0" y="0"/>
            <a:chExt cx="1829384" cy="2219734"/>
          </a:xfrm>
        </p:grpSpPr>
        <p:sp>
          <p:nvSpPr>
            <p:cNvPr name="Freeform 10" id="10"/>
            <p:cNvSpPr/>
            <p:nvPr/>
          </p:nvSpPr>
          <p:spPr>
            <a:xfrm flipH="false" flipV="false" rot="0">
              <a:off x="0" y="0"/>
              <a:ext cx="1829384" cy="2219734"/>
            </a:xfrm>
            <a:custGeom>
              <a:avLst/>
              <a:gdLst/>
              <a:ahLst/>
              <a:cxnLst/>
              <a:rect r="r" b="b" t="t" l="l"/>
              <a:pathLst>
                <a:path h="2219734" w="1829384">
                  <a:moveTo>
                    <a:pt x="32323" y="0"/>
                  </a:moveTo>
                  <a:lnTo>
                    <a:pt x="1797061" y="0"/>
                  </a:lnTo>
                  <a:cubicBezTo>
                    <a:pt x="1814913" y="0"/>
                    <a:pt x="1829384" y="14472"/>
                    <a:pt x="1829384" y="32323"/>
                  </a:cubicBezTo>
                  <a:lnTo>
                    <a:pt x="1829384" y="2187410"/>
                  </a:lnTo>
                  <a:cubicBezTo>
                    <a:pt x="1829384" y="2205262"/>
                    <a:pt x="1814913" y="2219734"/>
                    <a:pt x="1797061" y="2219734"/>
                  </a:cubicBezTo>
                  <a:lnTo>
                    <a:pt x="32323" y="2219734"/>
                  </a:lnTo>
                  <a:cubicBezTo>
                    <a:pt x="14472" y="2219734"/>
                    <a:pt x="0" y="2205262"/>
                    <a:pt x="0" y="2187410"/>
                  </a:cubicBezTo>
                  <a:lnTo>
                    <a:pt x="0" y="32323"/>
                  </a:lnTo>
                  <a:cubicBezTo>
                    <a:pt x="0" y="14472"/>
                    <a:pt x="14472" y="0"/>
                    <a:pt x="32323" y="0"/>
                  </a:cubicBezTo>
                  <a:close/>
                </a:path>
              </a:pathLst>
            </a:custGeom>
            <a:solidFill>
              <a:srgbClr val="FCF7EC">
                <a:alpha val="49804"/>
              </a:srgbClr>
            </a:solidFill>
          </p:spPr>
        </p:sp>
        <p:sp>
          <p:nvSpPr>
            <p:cNvPr name="TextBox 11" id="11"/>
            <p:cNvSpPr txBox="true"/>
            <p:nvPr/>
          </p:nvSpPr>
          <p:spPr>
            <a:xfrm>
              <a:off x="0" y="-38100"/>
              <a:ext cx="1829384" cy="2257834"/>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0402158" y="1887023"/>
            <a:ext cx="6049825" cy="7407671"/>
          </a:xfrm>
          <a:prstGeom prst="rect">
            <a:avLst/>
          </a:prstGeom>
        </p:spPr>
        <p:txBody>
          <a:bodyPr anchor="t" rtlCol="false" tIns="0" lIns="0" bIns="0" rIns="0">
            <a:spAutoFit/>
          </a:bodyPr>
          <a:lstStyle/>
          <a:p>
            <a:pPr algn="ctr">
              <a:lnSpc>
                <a:spcPts val="2865"/>
              </a:lnSpc>
            </a:pPr>
            <a:r>
              <a:rPr lang="en-US" sz="2865">
                <a:solidFill>
                  <a:srgbClr val="231F20"/>
                </a:solidFill>
                <a:latin typeface="Nefelibata Brush Canvas"/>
                <a:ea typeface="Nefelibata Brush Canvas"/>
                <a:cs typeface="Nefelibata Brush Canvas"/>
                <a:sym typeface="Nefelibata Brush Canvas"/>
              </a:rPr>
              <a:t>Google / Alphabet — $49.1B debt</a:t>
            </a:r>
          </a:p>
          <a:p>
            <a:pPr algn="ctr">
              <a:lnSpc>
                <a:spcPts val="2865"/>
              </a:lnSpc>
            </a:pPr>
            <a:r>
              <a:rPr lang="en-US" sz="2865">
                <a:solidFill>
                  <a:srgbClr val="231F20"/>
                </a:solidFill>
                <a:latin typeface="Canva Student Font"/>
                <a:ea typeface="Canva Student Font"/>
                <a:cs typeface="Canva Student Font"/>
                <a:sym typeface="Canva Student Font"/>
              </a:rPr>
              <a:t> </a:t>
            </a:r>
          </a:p>
          <a:p>
            <a:pPr algn="ctr">
              <a:lnSpc>
                <a:spcPts val="2865"/>
              </a:lnSpc>
            </a:pPr>
            <a:r>
              <a:rPr lang="en-US" sz="2865">
                <a:solidFill>
                  <a:srgbClr val="231F20"/>
                </a:solidFill>
                <a:latin typeface="Nefelibata Brush Canvas"/>
                <a:ea typeface="Nefelibata Brush Canvas"/>
                <a:cs typeface="Nefelibata Brush Canvas"/>
                <a:sym typeface="Nefelibata Brush Canvas"/>
              </a:rPr>
              <a:t>Amazon — $68.8B debt</a:t>
            </a:r>
          </a:p>
          <a:p>
            <a:pPr algn="ctr">
              <a:lnSpc>
                <a:spcPts val="2865"/>
              </a:lnSpc>
            </a:pPr>
            <a:r>
              <a:rPr lang="en-US" sz="2865">
                <a:solidFill>
                  <a:srgbClr val="231F20"/>
                </a:solidFill>
                <a:latin typeface="Nefelibata Brush Canvas"/>
                <a:ea typeface="Nefelibata Brush Canvas"/>
                <a:cs typeface="Nefelibata Brush Canvas"/>
                <a:sym typeface="Nefelibata Brush Canvas"/>
              </a:rPr>
              <a:t> </a:t>
            </a:r>
          </a:p>
          <a:p>
            <a:pPr algn="ctr">
              <a:lnSpc>
                <a:spcPts val="2865"/>
              </a:lnSpc>
            </a:pPr>
            <a:r>
              <a:rPr lang="en-US" sz="2865">
                <a:solidFill>
                  <a:srgbClr val="231F20"/>
                </a:solidFill>
                <a:latin typeface="Nefelibata Brush Canvas"/>
                <a:ea typeface="Nefelibata Brush Canvas"/>
                <a:cs typeface="Nefelibata Brush Canvas"/>
                <a:sym typeface="Nefelibata Brush Canvas"/>
              </a:rPr>
              <a:t>Tata Motors — ₹40,217 Cr borrowings</a:t>
            </a:r>
          </a:p>
          <a:p>
            <a:pPr algn="ctr">
              <a:lnSpc>
                <a:spcPts val="2865"/>
              </a:lnSpc>
            </a:pPr>
          </a:p>
          <a:p>
            <a:pPr algn="ctr">
              <a:lnSpc>
                <a:spcPts val="2865"/>
              </a:lnSpc>
            </a:pPr>
            <a:r>
              <a:rPr lang="en-US" sz="2865">
                <a:solidFill>
                  <a:srgbClr val="231F20"/>
                </a:solidFill>
                <a:latin typeface="Nefelibata Brush Canvas"/>
                <a:ea typeface="Nefelibata Brush Canvas"/>
                <a:cs typeface="Nefelibata Brush Canvas"/>
                <a:sym typeface="Nefelibata Brush Canvas"/>
              </a:rPr>
              <a:t> Adani Power — ₹47,254 Cr debt</a:t>
            </a:r>
          </a:p>
          <a:p>
            <a:pPr algn="ctr">
              <a:lnSpc>
                <a:spcPts val="2865"/>
              </a:lnSpc>
            </a:pPr>
          </a:p>
          <a:p>
            <a:pPr algn="ctr">
              <a:lnSpc>
                <a:spcPts val="2865"/>
              </a:lnSpc>
            </a:pPr>
            <a:r>
              <a:rPr lang="en-US" sz="2865">
                <a:solidFill>
                  <a:srgbClr val="231F20"/>
                </a:solidFill>
                <a:latin typeface="Canva Student Font"/>
                <a:ea typeface="Canva Student Font"/>
                <a:cs typeface="Canva Student Font"/>
                <a:sym typeface="Canva Student Font"/>
              </a:rPr>
              <a:t> </a:t>
            </a:r>
          </a:p>
          <a:p>
            <a:pPr algn="ctr">
              <a:lnSpc>
                <a:spcPts val="2865"/>
              </a:lnSpc>
            </a:pPr>
          </a:p>
          <a:p>
            <a:pPr algn="ctr">
              <a:lnSpc>
                <a:spcPts val="2865"/>
              </a:lnSpc>
            </a:pPr>
            <a:r>
              <a:rPr lang="en-US" sz="2865">
                <a:solidFill>
                  <a:srgbClr val="947746"/>
                </a:solidFill>
                <a:latin typeface="Nefelibata Brush Canvas"/>
                <a:ea typeface="Nefelibata Brush Canvas"/>
                <a:cs typeface="Nefelibata Brush Canvas"/>
                <a:sym typeface="Nefelibata Brush Canvas"/>
              </a:rPr>
              <a:t>Some Debt went wrong too</a:t>
            </a:r>
          </a:p>
          <a:p>
            <a:pPr algn="ctr">
              <a:lnSpc>
                <a:spcPts val="2865"/>
              </a:lnSpc>
            </a:pPr>
          </a:p>
          <a:p>
            <a:pPr algn="ctr">
              <a:lnSpc>
                <a:spcPts val="2865"/>
              </a:lnSpc>
            </a:pPr>
            <a:r>
              <a:rPr lang="en-US" sz="2865">
                <a:solidFill>
                  <a:srgbClr val="231F20"/>
                </a:solidFill>
                <a:latin typeface="Nefelibata Brush Canvas"/>
                <a:ea typeface="Nefelibata Brush Canvas"/>
                <a:cs typeface="Nefelibata Brush Canvas"/>
                <a:sym typeface="Nefelibata Brush Canvas"/>
              </a:rPr>
              <a:t>Vijay Mallya — Kingfisher Airlines</a:t>
            </a:r>
          </a:p>
          <a:p>
            <a:pPr algn="ctr">
              <a:lnSpc>
                <a:spcPts val="2865"/>
              </a:lnSpc>
            </a:pPr>
            <a:r>
              <a:rPr lang="en-US" sz="2865">
                <a:solidFill>
                  <a:srgbClr val="231F20"/>
                </a:solidFill>
                <a:latin typeface="Canva Student Font"/>
                <a:ea typeface="Canva Student Font"/>
                <a:cs typeface="Canva Student Font"/>
                <a:sym typeface="Canva Student Font"/>
              </a:rPr>
              <a:t>₹8,752 Cr still recoverable from the SBI-led consortium.</a:t>
            </a:r>
          </a:p>
          <a:p>
            <a:pPr algn="ctr">
              <a:lnSpc>
                <a:spcPts val="2865"/>
              </a:lnSpc>
            </a:pPr>
          </a:p>
          <a:p>
            <a:pPr algn="ctr">
              <a:lnSpc>
                <a:spcPts val="2865"/>
              </a:lnSpc>
            </a:pPr>
            <a:r>
              <a:rPr lang="en-US" sz="2865">
                <a:solidFill>
                  <a:srgbClr val="231F20"/>
                </a:solidFill>
                <a:latin typeface="Nefelibata Brush Canvas"/>
                <a:ea typeface="Nefelibata Brush Canvas"/>
                <a:cs typeface="Nefelibata Brush Canvas"/>
                <a:sym typeface="Nefelibata Brush Canvas"/>
              </a:rPr>
              <a:t>Nirav Modi — PNB Case</a:t>
            </a:r>
          </a:p>
          <a:p>
            <a:pPr algn="ctr">
              <a:lnSpc>
                <a:spcPts val="2865"/>
              </a:lnSpc>
            </a:pPr>
            <a:r>
              <a:rPr lang="en-US" sz="2865">
                <a:solidFill>
                  <a:srgbClr val="231F20"/>
                </a:solidFill>
                <a:latin typeface="Canva Student Font"/>
                <a:ea typeface="Canva Student Font"/>
                <a:cs typeface="Canva Student Font"/>
                <a:sym typeface="Canva Student Font"/>
              </a:rPr>
              <a:t> Involved in the PNB banking fraud, involving thousands of crores.</a:t>
            </a:r>
          </a:p>
          <a:p>
            <a:pPr algn="ctr">
              <a:lnSpc>
                <a:spcPts val="2165"/>
              </a:lnSpc>
            </a:pPr>
          </a:p>
          <a:p>
            <a:pPr algn="ctr">
              <a:lnSpc>
                <a:spcPts val="2165"/>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983" r="0" b="-4983"/>
            </a:stretch>
          </a:blipFill>
        </p:spPr>
      </p:sp>
      <p:sp>
        <p:nvSpPr>
          <p:cNvPr name="Freeform 3" id="3"/>
          <p:cNvSpPr/>
          <p:nvPr/>
        </p:nvSpPr>
        <p:spPr>
          <a:xfrm flipH="false" flipV="false" rot="5400000">
            <a:off x="-4387507" y="3799478"/>
            <a:ext cx="10832414" cy="2688043"/>
          </a:xfrm>
          <a:custGeom>
            <a:avLst/>
            <a:gdLst/>
            <a:ahLst/>
            <a:cxnLst/>
            <a:rect r="r" b="b" t="t" l="l"/>
            <a:pathLst>
              <a:path h="2688043" w="10832414">
                <a:moveTo>
                  <a:pt x="0" y="0"/>
                </a:moveTo>
                <a:lnTo>
                  <a:pt x="10832414" y="0"/>
                </a:lnTo>
                <a:lnTo>
                  <a:pt x="10832414" y="2688044"/>
                </a:lnTo>
                <a:lnTo>
                  <a:pt x="0" y="268804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82671" y="50573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5400000">
            <a:off x="11846083" y="3655935"/>
            <a:ext cx="10832414" cy="2688043"/>
          </a:xfrm>
          <a:custGeom>
            <a:avLst/>
            <a:gdLst/>
            <a:ahLst/>
            <a:cxnLst/>
            <a:rect r="r" b="b" t="t" l="l"/>
            <a:pathLst>
              <a:path h="2688043" w="10832414">
                <a:moveTo>
                  <a:pt x="0" y="2688043"/>
                </a:moveTo>
                <a:lnTo>
                  <a:pt x="10832414" y="2688043"/>
                </a:lnTo>
                <a:lnTo>
                  <a:pt x="10832414" y="0"/>
                </a:lnTo>
                <a:lnTo>
                  <a:pt x="0" y="0"/>
                </a:lnTo>
                <a:lnTo>
                  <a:pt x="0" y="2688043"/>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3674361" y="505739"/>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5071815" y="3799478"/>
            <a:ext cx="10832414" cy="2688043"/>
          </a:xfrm>
          <a:custGeom>
            <a:avLst/>
            <a:gdLst/>
            <a:ahLst/>
            <a:cxnLst/>
            <a:rect r="r" b="b" t="t" l="l"/>
            <a:pathLst>
              <a:path h="2688043" w="10832414">
                <a:moveTo>
                  <a:pt x="0" y="0"/>
                </a:moveTo>
                <a:lnTo>
                  <a:pt x="10832413" y="0"/>
                </a:lnTo>
                <a:lnTo>
                  <a:pt x="10832413" y="2688044"/>
                </a:lnTo>
                <a:lnTo>
                  <a:pt x="0" y="2688044"/>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true" rot="5400000">
            <a:off x="2383772" y="3799478"/>
            <a:ext cx="10832414" cy="2688043"/>
          </a:xfrm>
          <a:custGeom>
            <a:avLst/>
            <a:gdLst/>
            <a:ahLst/>
            <a:cxnLst/>
            <a:rect r="r" b="b" t="t" l="l"/>
            <a:pathLst>
              <a:path h="2688043" w="10832414">
                <a:moveTo>
                  <a:pt x="0" y="2688044"/>
                </a:moveTo>
                <a:lnTo>
                  <a:pt x="10832413" y="2688044"/>
                </a:lnTo>
                <a:lnTo>
                  <a:pt x="10832413" y="0"/>
                </a:lnTo>
                <a:lnTo>
                  <a:pt x="0" y="0"/>
                </a:lnTo>
                <a:lnTo>
                  <a:pt x="0" y="2688044"/>
                </a:lnTo>
                <a:close/>
              </a:path>
            </a:pathLst>
          </a:custGeom>
          <a:blipFill>
            <a:blip r:embed="rId7">
              <a:alphaModFix amt="51000"/>
              <a:extLst>
                <a:ext uri="{96DAC541-7B7A-43D3-8B79-37D633B846F1}">
                  <asvg:svgBlip xmlns:asvg="http://schemas.microsoft.com/office/drawing/2016/SVG/main" r:embed="rId8"/>
                </a:ext>
              </a:extLst>
            </a:blip>
            <a:stretch>
              <a:fillRect l="0" t="0" r="0" b="0"/>
            </a:stretch>
          </a:blipFill>
        </p:spPr>
      </p:sp>
      <p:sp>
        <p:nvSpPr>
          <p:cNvPr name="AutoShape 9" id="9"/>
          <p:cNvSpPr/>
          <p:nvPr/>
        </p:nvSpPr>
        <p:spPr>
          <a:xfrm flipH="true">
            <a:off x="9144000" y="-416250"/>
            <a:ext cx="0" cy="10975957"/>
          </a:xfrm>
          <a:prstGeom prst="line">
            <a:avLst/>
          </a:prstGeom>
          <a:ln cap="flat" w="38100">
            <a:solidFill>
              <a:srgbClr val="231F20">
                <a:alpha val="44706"/>
              </a:srgbClr>
            </a:solidFill>
            <a:prstDash val="solid"/>
            <a:headEnd type="none" len="sm" w="sm"/>
            <a:tailEnd type="none" len="sm" w="sm"/>
          </a:ln>
        </p:spPr>
      </p:sp>
      <p:grpSp>
        <p:nvGrpSpPr>
          <p:cNvPr name="Group 10" id="10"/>
          <p:cNvGrpSpPr/>
          <p:nvPr/>
        </p:nvGrpSpPr>
        <p:grpSpPr>
          <a:xfrm rot="0">
            <a:off x="9891230" y="1202923"/>
            <a:ext cx="3524708" cy="1996394"/>
            <a:chOff x="0" y="0"/>
            <a:chExt cx="928318" cy="525799"/>
          </a:xfrm>
        </p:grpSpPr>
        <p:sp>
          <p:nvSpPr>
            <p:cNvPr name="Freeform 11" id="11"/>
            <p:cNvSpPr/>
            <p:nvPr/>
          </p:nvSpPr>
          <p:spPr>
            <a:xfrm flipH="false" flipV="false" rot="0">
              <a:off x="0" y="0"/>
              <a:ext cx="928318" cy="525799"/>
            </a:xfrm>
            <a:custGeom>
              <a:avLst/>
              <a:gdLst/>
              <a:ahLst/>
              <a:cxnLst/>
              <a:rect r="r" b="b" t="t" l="l"/>
              <a:pathLst>
                <a:path h="525799" w="928318">
                  <a:moveTo>
                    <a:pt x="30751" y="0"/>
                  </a:moveTo>
                  <a:lnTo>
                    <a:pt x="897567" y="0"/>
                  </a:lnTo>
                  <a:cubicBezTo>
                    <a:pt x="914551" y="0"/>
                    <a:pt x="928318" y="13768"/>
                    <a:pt x="928318" y="30751"/>
                  </a:cubicBezTo>
                  <a:lnTo>
                    <a:pt x="928318" y="495049"/>
                  </a:lnTo>
                  <a:cubicBezTo>
                    <a:pt x="928318" y="512032"/>
                    <a:pt x="914551" y="525799"/>
                    <a:pt x="897567" y="525799"/>
                  </a:cubicBezTo>
                  <a:lnTo>
                    <a:pt x="30751" y="525799"/>
                  </a:lnTo>
                  <a:cubicBezTo>
                    <a:pt x="13768" y="525799"/>
                    <a:pt x="0" y="512032"/>
                    <a:pt x="0" y="495049"/>
                  </a:cubicBezTo>
                  <a:lnTo>
                    <a:pt x="0" y="30751"/>
                  </a:lnTo>
                  <a:cubicBezTo>
                    <a:pt x="0" y="13768"/>
                    <a:pt x="13768" y="0"/>
                    <a:pt x="30751" y="0"/>
                  </a:cubicBezTo>
                  <a:close/>
                </a:path>
              </a:pathLst>
            </a:custGeom>
            <a:solidFill>
              <a:srgbClr val="FCF7EC">
                <a:alpha val="49804"/>
              </a:srgbClr>
            </a:solidFill>
          </p:spPr>
        </p:sp>
        <p:sp>
          <p:nvSpPr>
            <p:cNvPr name="TextBox 12" id="12"/>
            <p:cNvSpPr txBox="true"/>
            <p:nvPr/>
          </p:nvSpPr>
          <p:spPr>
            <a:xfrm>
              <a:off x="0" y="-38100"/>
              <a:ext cx="928318" cy="563899"/>
            </a:xfrm>
            <a:prstGeom prst="rect">
              <a:avLst/>
            </a:prstGeom>
          </p:spPr>
          <p:txBody>
            <a:bodyPr anchor="ctr" rtlCol="false" tIns="50800" lIns="50800" bIns="50800" rIns="50800"/>
            <a:lstStyle/>
            <a:p>
              <a:pPr algn="ctr">
                <a:lnSpc>
                  <a:spcPts val="2659"/>
                </a:lnSpc>
                <a:spcBef>
                  <a:spcPct val="0"/>
                </a:spcBef>
              </a:pPr>
            </a:p>
          </p:txBody>
        </p:sp>
      </p:grpSp>
      <p:pic>
        <p:nvPicPr>
          <p:cNvPr name="Picture 13" id="13"/>
          <p:cNvPicPr>
            <a:picLocks noChangeAspect="true"/>
          </p:cNvPicPr>
          <p:nvPr/>
        </p:nvPicPr>
        <p:blipFill>
          <a:blip r:embed="rId9"/>
          <a:stretch>
            <a:fillRect/>
          </a:stretch>
        </p:blipFill>
        <p:spPr>
          <a:xfrm rot="0">
            <a:off x="10545434" y="1295984"/>
            <a:ext cx="2216298" cy="1292840"/>
          </a:xfrm>
          <a:prstGeom prst="rect">
            <a:avLst/>
          </a:prstGeom>
        </p:spPr>
      </p:pic>
      <p:grpSp>
        <p:nvGrpSpPr>
          <p:cNvPr name="Group 14" id="14"/>
          <p:cNvGrpSpPr/>
          <p:nvPr/>
        </p:nvGrpSpPr>
        <p:grpSpPr>
          <a:xfrm rot="0">
            <a:off x="13734592" y="1200655"/>
            <a:ext cx="3524708" cy="1996394"/>
            <a:chOff x="0" y="0"/>
            <a:chExt cx="928318" cy="525799"/>
          </a:xfrm>
        </p:grpSpPr>
        <p:sp>
          <p:nvSpPr>
            <p:cNvPr name="Freeform 15" id="15"/>
            <p:cNvSpPr/>
            <p:nvPr/>
          </p:nvSpPr>
          <p:spPr>
            <a:xfrm flipH="false" flipV="false" rot="0">
              <a:off x="0" y="0"/>
              <a:ext cx="928318" cy="525799"/>
            </a:xfrm>
            <a:custGeom>
              <a:avLst/>
              <a:gdLst/>
              <a:ahLst/>
              <a:cxnLst/>
              <a:rect r="r" b="b" t="t" l="l"/>
              <a:pathLst>
                <a:path h="525799" w="928318">
                  <a:moveTo>
                    <a:pt x="30751" y="0"/>
                  </a:moveTo>
                  <a:lnTo>
                    <a:pt x="897567" y="0"/>
                  </a:lnTo>
                  <a:cubicBezTo>
                    <a:pt x="914551" y="0"/>
                    <a:pt x="928318" y="13768"/>
                    <a:pt x="928318" y="30751"/>
                  </a:cubicBezTo>
                  <a:lnTo>
                    <a:pt x="928318" y="495049"/>
                  </a:lnTo>
                  <a:cubicBezTo>
                    <a:pt x="928318" y="512032"/>
                    <a:pt x="914551" y="525799"/>
                    <a:pt x="897567" y="525799"/>
                  </a:cubicBezTo>
                  <a:lnTo>
                    <a:pt x="30751" y="525799"/>
                  </a:lnTo>
                  <a:cubicBezTo>
                    <a:pt x="13768" y="525799"/>
                    <a:pt x="0" y="512032"/>
                    <a:pt x="0" y="495049"/>
                  </a:cubicBezTo>
                  <a:lnTo>
                    <a:pt x="0" y="30751"/>
                  </a:lnTo>
                  <a:cubicBezTo>
                    <a:pt x="0" y="13768"/>
                    <a:pt x="13768" y="0"/>
                    <a:pt x="30751" y="0"/>
                  </a:cubicBezTo>
                  <a:close/>
                </a:path>
              </a:pathLst>
            </a:custGeom>
            <a:solidFill>
              <a:srgbClr val="FCF7EC">
                <a:alpha val="49804"/>
              </a:srgbClr>
            </a:solidFill>
          </p:spPr>
        </p:sp>
        <p:sp>
          <p:nvSpPr>
            <p:cNvPr name="TextBox 16" id="16"/>
            <p:cNvSpPr txBox="true"/>
            <p:nvPr/>
          </p:nvSpPr>
          <p:spPr>
            <a:xfrm>
              <a:off x="0" y="-38100"/>
              <a:ext cx="928318" cy="563899"/>
            </a:xfrm>
            <a:prstGeom prst="rect">
              <a:avLst/>
            </a:prstGeom>
          </p:spPr>
          <p:txBody>
            <a:bodyPr anchor="ctr" rtlCol="false" tIns="50800" lIns="50800" bIns="50800" rIns="50800"/>
            <a:lstStyle/>
            <a:p>
              <a:pPr algn="ctr">
                <a:lnSpc>
                  <a:spcPts val="2659"/>
                </a:lnSpc>
                <a:spcBef>
                  <a:spcPct val="0"/>
                </a:spcBef>
              </a:pPr>
            </a:p>
          </p:txBody>
        </p:sp>
      </p:grpSp>
      <p:pic>
        <p:nvPicPr>
          <p:cNvPr name="Picture 17" id="17"/>
          <p:cNvPicPr>
            <a:picLocks noChangeAspect="true"/>
          </p:cNvPicPr>
          <p:nvPr/>
        </p:nvPicPr>
        <p:blipFill>
          <a:blip r:embed="rId10"/>
          <a:stretch>
            <a:fillRect/>
          </a:stretch>
        </p:blipFill>
        <p:spPr>
          <a:xfrm rot="0">
            <a:off x="14388798" y="1295984"/>
            <a:ext cx="2216298" cy="1292840"/>
          </a:xfrm>
          <a:prstGeom prst="rect">
            <a:avLst/>
          </a:prstGeom>
        </p:spPr>
      </p:pic>
      <p:grpSp>
        <p:nvGrpSpPr>
          <p:cNvPr name="Group 18" id="18"/>
          <p:cNvGrpSpPr/>
          <p:nvPr/>
        </p:nvGrpSpPr>
        <p:grpSpPr>
          <a:xfrm rot="0">
            <a:off x="9891230" y="4465343"/>
            <a:ext cx="3524708" cy="1996394"/>
            <a:chOff x="0" y="0"/>
            <a:chExt cx="928318" cy="525799"/>
          </a:xfrm>
        </p:grpSpPr>
        <p:sp>
          <p:nvSpPr>
            <p:cNvPr name="Freeform 19" id="19"/>
            <p:cNvSpPr/>
            <p:nvPr/>
          </p:nvSpPr>
          <p:spPr>
            <a:xfrm flipH="false" flipV="false" rot="0">
              <a:off x="0" y="0"/>
              <a:ext cx="928318" cy="525799"/>
            </a:xfrm>
            <a:custGeom>
              <a:avLst/>
              <a:gdLst/>
              <a:ahLst/>
              <a:cxnLst/>
              <a:rect r="r" b="b" t="t" l="l"/>
              <a:pathLst>
                <a:path h="525799" w="928318">
                  <a:moveTo>
                    <a:pt x="30751" y="0"/>
                  </a:moveTo>
                  <a:lnTo>
                    <a:pt x="897567" y="0"/>
                  </a:lnTo>
                  <a:cubicBezTo>
                    <a:pt x="914551" y="0"/>
                    <a:pt x="928318" y="13768"/>
                    <a:pt x="928318" y="30751"/>
                  </a:cubicBezTo>
                  <a:lnTo>
                    <a:pt x="928318" y="495049"/>
                  </a:lnTo>
                  <a:cubicBezTo>
                    <a:pt x="928318" y="512032"/>
                    <a:pt x="914551" y="525799"/>
                    <a:pt x="897567" y="525799"/>
                  </a:cubicBezTo>
                  <a:lnTo>
                    <a:pt x="30751" y="525799"/>
                  </a:lnTo>
                  <a:cubicBezTo>
                    <a:pt x="13768" y="525799"/>
                    <a:pt x="0" y="512032"/>
                    <a:pt x="0" y="495049"/>
                  </a:cubicBezTo>
                  <a:lnTo>
                    <a:pt x="0" y="30751"/>
                  </a:lnTo>
                  <a:cubicBezTo>
                    <a:pt x="0" y="13768"/>
                    <a:pt x="13768" y="0"/>
                    <a:pt x="30751" y="0"/>
                  </a:cubicBezTo>
                  <a:close/>
                </a:path>
              </a:pathLst>
            </a:custGeom>
            <a:solidFill>
              <a:srgbClr val="FCF7EC">
                <a:alpha val="49804"/>
              </a:srgbClr>
            </a:solidFill>
          </p:spPr>
        </p:sp>
        <p:sp>
          <p:nvSpPr>
            <p:cNvPr name="TextBox 20" id="20"/>
            <p:cNvSpPr txBox="true"/>
            <p:nvPr/>
          </p:nvSpPr>
          <p:spPr>
            <a:xfrm>
              <a:off x="0" y="-38100"/>
              <a:ext cx="928318" cy="563899"/>
            </a:xfrm>
            <a:prstGeom prst="rect">
              <a:avLst/>
            </a:prstGeom>
          </p:spPr>
          <p:txBody>
            <a:bodyPr anchor="ctr" rtlCol="false" tIns="50800" lIns="50800" bIns="50800" rIns="50800"/>
            <a:lstStyle/>
            <a:p>
              <a:pPr algn="ctr">
                <a:lnSpc>
                  <a:spcPts val="2659"/>
                </a:lnSpc>
                <a:spcBef>
                  <a:spcPct val="0"/>
                </a:spcBef>
              </a:pPr>
            </a:p>
          </p:txBody>
        </p:sp>
      </p:grpSp>
      <p:pic>
        <p:nvPicPr>
          <p:cNvPr name="Picture 21" id="21"/>
          <p:cNvPicPr>
            <a:picLocks noChangeAspect="true"/>
          </p:cNvPicPr>
          <p:nvPr/>
        </p:nvPicPr>
        <p:blipFill>
          <a:blip r:embed="rId11"/>
          <a:stretch>
            <a:fillRect/>
          </a:stretch>
        </p:blipFill>
        <p:spPr>
          <a:xfrm rot="0">
            <a:off x="10545434" y="4497080"/>
            <a:ext cx="2216298" cy="1292840"/>
          </a:xfrm>
          <a:prstGeom prst="rect">
            <a:avLst/>
          </a:prstGeom>
        </p:spPr>
      </p:pic>
      <p:sp>
        <p:nvSpPr>
          <p:cNvPr name="TextBox 22" id="22"/>
          <p:cNvSpPr txBox="true"/>
          <p:nvPr/>
        </p:nvSpPr>
        <p:spPr>
          <a:xfrm rot="0">
            <a:off x="2857594" y="2161433"/>
            <a:ext cx="5629181" cy="2653635"/>
          </a:xfrm>
          <a:prstGeom prst="rect">
            <a:avLst/>
          </a:prstGeom>
        </p:spPr>
        <p:txBody>
          <a:bodyPr anchor="t" rtlCol="false" tIns="0" lIns="0" bIns="0" rIns="0">
            <a:spAutoFit/>
          </a:bodyPr>
          <a:lstStyle/>
          <a:p>
            <a:pPr algn="ctr">
              <a:lnSpc>
                <a:spcPts val="10023"/>
              </a:lnSpc>
            </a:pPr>
            <a:r>
              <a:rPr lang="en-US" sz="11389">
                <a:solidFill>
                  <a:srgbClr val="231F20"/>
                </a:solidFill>
                <a:latin typeface="Comforter Brush"/>
                <a:ea typeface="Comforter Brush"/>
                <a:cs typeface="Comforter Brush"/>
                <a:sym typeface="Comforter Brush"/>
              </a:rPr>
              <a:t>Indian</a:t>
            </a:r>
          </a:p>
          <a:p>
            <a:pPr algn="ctr">
              <a:lnSpc>
                <a:spcPts val="10023"/>
              </a:lnSpc>
            </a:pPr>
            <a:r>
              <a:rPr lang="en-US" sz="11389">
                <a:solidFill>
                  <a:srgbClr val="231F20"/>
                </a:solidFill>
                <a:latin typeface="Comforter Brush"/>
                <a:ea typeface="Comforter Brush"/>
                <a:cs typeface="Comforter Brush"/>
                <a:sym typeface="Comforter Brush"/>
              </a:rPr>
              <a:t>Msme</a:t>
            </a:r>
          </a:p>
        </p:txBody>
      </p:sp>
      <p:sp>
        <p:nvSpPr>
          <p:cNvPr name="TextBox 23" id="23"/>
          <p:cNvSpPr txBox="true"/>
          <p:nvPr/>
        </p:nvSpPr>
        <p:spPr>
          <a:xfrm rot="0">
            <a:off x="10445426" y="2591714"/>
            <a:ext cx="2416315" cy="291465"/>
          </a:xfrm>
          <a:prstGeom prst="rect">
            <a:avLst/>
          </a:prstGeom>
        </p:spPr>
        <p:txBody>
          <a:bodyPr anchor="t" rtlCol="false" tIns="0" lIns="0" bIns="0" rIns="0">
            <a:spAutoFit/>
          </a:bodyPr>
          <a:lstStyle/>
          <a:p>
            <a:pPr algn="ctr">
              <a:lnSpc>
                <a:spcPts val="2100"/>
              </a:lnSpc>
            </a:pPr>
            <a:r>
              <a:rPr lang="en-US" b="true" sz="2100">
                <a:solidFill>
                  <a:srgbClr val="231F20"/>
                </a:solidFill>
                <a:latin typeface="Linux Biolinum Bold"/>
                <a:ea typeface="Linux Biolinum Bold"/>
                <a:cs typeface="Linux Biolinum Bold"/>
                <a:sym typeface="Linux Biolinum Bold"/>
              </a:rPr>
              <a:t>GDP Contribution</a:t>
            </a:r>
          </a:p>
        </p:txBody>
      </p:sp>
      <p:grpSp>
        <p:nvGrpSpPr>
          <p:cNvPr name="Group 24" id="24"/>
          <p:cNvGrpSpPr/>
          <p:nvPr/>
        </p:nvGrpSpPr>
        <p:grpSpPr>
          <a:xfrm rot="0">
            <a:off x="13852273" y="4465343"/>
            <a:ext cx="3524708" cy="1996394"/>
            <a:chOff x="0" y="0"/>
            <a:chExt cx="928318" cy="525799"/>
          </a:xfrm>
        </p:grpSpPr>
        <p:sp>
          <p:nvSpPr>
            <p:cNvPr name="Freeform 25" id="25"/>
            <p:cNvSpPr/>
            <p:nvPr/>
          </p:nvSpPr>
          <p:spPr>
            <a:xfrm flipH="false" flipV="false" rot="0">
              <a:off x="0" y="0"/>
              <a:ext cx="928318" cy="525799"/>
            </a:xfrm>
            <a:custGeom>
              <a:avLst/>
              <a:gdLst/>
              <a:ahLst/>
              <a:cxnLst/>
              <a:rect r="r" b="b" t="t" l="l"/>
              <a:pathLst>
                <a:path h="525799" w="928318">
                  <a:moveTo>
                    <a:pt x="30751" y="0"/>
                  </a:moveTo>
                  <a:lnTo>
                    <a:pt x="897567" y="0"/>
                  </a:lnTo>
                  <a:cubicBezTo>
                    <a:pt x="914551" y="0"/>
                    <a:pt x="928318" y="13768"/>
                    <a:pt x="928318" y="30751"/>
                  </a:cubicBezTo>
                  <a:lnTo>
                    <a:pt x="928318" y="495049"/>
                  </a:lnTo>
                  <a:cubicBezTo>
                    <a:pt x="928318" y="512032"/>
                    <a:pt x="914551" y="525799"/>
                    <a:pt x="897567" y="525799"/>
                  </a:cubicBezTo>
                  <a:lnTo>
                    <a:pt x="30751" y="525799"/>
                  </a:lnTo>
                  <a:cubicBezTo>
                    <a:pt x="13768" y="525799"/>
                    <a:pt x="0" y="512032"/>
                    <a:pt x="0" y="495049"/>
                  </a:cubicBezTo>
                  <a:lnTo>
                    <a:pt x="0" y="30751"/>
                  </a:lnTo>
                  <a:cubicBezTo>
                    <a:pt x="0" y="13768"/>
                    <a:pt x="13768" y="0"/>
                    <a:pt x="30751" y="0"/>
                  </a:cubicBezTo>
                  <a:close/>
                </a:path>
              </a:pathLst>
            </a:custGeom>
            <a:solidFill>
              <a:srgbClr val="FCF7EC">
                <a:alpha val="49804"/>
              </a:srgbClr>
            </a:solidFill>
          </p:spPr>
        </p:sp>
        <p:sp>
          <p:nvSpPr>
            <p:cNvPr name="TextBox 26" id="26"/>
            <p:cNvSpPr txBox="true"/>
            <p:nvPr/>
          </p:nvSpPr>
          <p:spPr>
            <a:xfrm>
              <a:off x="0" y="-38100"/>
              <a:ext cx="928318" cy="563899"/>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5158799" y="4782464"/>
            <a:ext cx="911656" cy="969847"/>
          </a:xfrm>
          <a:custGeom>
            <a:avLst/>
            <a:gdLst/>
            <a:ahLst/>
            <a:cxnLst/>
            <a:rect r="r" b="b" t="t" l="l"/>
            <a:pathLst>
              <a:path h="969847" w="911656">
                <a:moveTo>
                  <a:pt x="0" y="0"/>
                </a:moveTo>
                <a:lnTo>
                  <a:pt x="911656" y="0"/>
                </a:lnTo>
                <a:lnTo>
                  <a:pt x="911656" y="969847"/>
                </a:lnTo>
                <a:lnTo>
                  <a:pt x="0" y="9698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8" id="28"/>
          <p:cNvSpPr txBox="true"/>
          <p:nvPr/>
        </p:nvSpPr>
        <p:spPr>
          <a:xfrm rot="0">
            <a:off x="14288789" y="2591714"/>
            <a:ext cx="2416315" cy="291465"/>
          </a:xfrm>
          <a:prstGeom prst="rect">
            <a:avLst/>
          </a:prstGeom>
        </p:spPr>
        <p:txBody>
          <a:bodyPr anchor="t" rtlCol="false" tIns="0" lIns="0" bIns="0" rIns="0">
            <a:spAutoFit/>
          </a:bodyPr>
          <a:lstStyle/>
          <a:p>
            <a:pPr algn="ctr">
              <a:lnSpc>
                <a:spcPts val="2100"/>
              </a:lnSpc>
            </a:pPr>
            <a:r>
              <a:rPr lang="en-US" b="true" sz="2100">
                <a:solidFill>
                  <a:srgbClr val="231F20"/>
                </a:solidFill>
                <a:latin typeface="Linux Biolinum Bold"/>
                <a:ea typeface="Linux Biolinum Bold"/>
                <a:cs typeface="Linux Biolinum Bold"/>
                <a:sym typeface="Linux Biolinum Bold"/>
              </a:rPr>
              <a:t>Forgein Exports</a:t>
            </a:r>
          </a:p>
        </p:txBody>
      </p:sp>
      <p:sp>
        <p:nvSpPr>
          <p:cNvPr name="TextBox 29" id="29"/>
          <p:cNvSpPr txBox="true"/>
          <p:nvPr/>
        </p:nvSpPr>
        <p:spPr>
          <a:xfrm rot="0">
            <a:off x="10368086" y="5841839"/>
            <a:ext cx="2927916" cy="291465"/>
          </a:xfrm>
          <a:prstGeom prst="rect">
            <a:avLst/>
          </a:prstGeom>
        </p:spPr>
        <p:txBody>
          <a:bodyPr anchor="t" rtlCol="false" tIns="0" lIns="0" bIns="0" rIns="0">
            <a:spAutoFit/>
          </a:bodyPr>
          <a:lstStyle/>
          <a:p>
            <a:pPr algn="ctr">
              <a:lnSpc>
                <a:spcPts val="2100"/>
              </a:lnSpc>
            </a:pPr>
            <a:r>
              <a:rPr lang="en-US" b="true" sz="2100">
                <a:solidFill>
                  <a:srgbClr val="231F20"/>
                </a:solidFill>
                <a:latin typeface="Linux Biolinum Bold"/>
                <a:ea typeface="Linux Biolinum Bold"/>
                <a:cs typeface="Linux Biolinum Bold"/>
                <a:sym typeface="Linux Biolinum Bold"/>
              </a:rPr>
              <a:t>Manufacturing Output</a:t>
            </a:r>
          </a:p>
        </p:txBody>
      </p:sp>
      <p:sp>
        <p:nvSpPr>
          <p:cNvPr name="TextBox 30" id="30"/>
          <p:cNvSpPr txBox="true"/>
          <p:nvPr/>
        </p:nvSpPr>
        <p:spPr>
          <a:xfrm rot="0">
            <a:off x="14139837" y="5942811"/>
            <a:ext cx="2927916" cy="291465"/>
          </a:xfrm>
          <a:prstGeom prst="rect">
            <a:avLst/>
          </a:prstGeom>
        </p:spPr>
        <p:txBody>
          <a:bodyPr anchor="t" rtlCol="false" tIns="0" lIns="0" bIns="0" rIns="0">
            <a:spAutoFit/>
          </a:bodyPr>
          <a:lstStyle/>
          <a:p>
            <a:pPr algn="ctr">
              <a:lnSpc>
                <a:spcPts val="2100"/>
              </a:lnSpc>
            </a:pPr>
            <a:r>
              <a:rPr lang="en-US" b="true" sz="2100">
                <a:solidFill>
                  <a:srgbClr val="231F20"/>
                </a:solidFill>
                <a:latin typeface="Linux Biolinum Bold"/>
                <a:ea typeface="Linux Biolinum Bold"/>
                <a:cs typeface="Linux Biolinum Bold"/>
                <a:sym typeface="Linux Biolinum Bold"/>
              </a:rPr>
              <a:t>63 Million Employees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983" r="0" b="-4983"/>
            </a:stretch>
          </a:blipFill>
        </p:spPr>
      </p:sp>
      <p:sp>
        <p:nvSpPr>
          <p:cNvPr name="Freeform 3" id="3"/>
          <p:cNvSpPr/>
          <p:nvPr/>
        </p:nvSpPr>
        <p:spPr>
          <a:xfrm flipH="false" flipV="false" rot="5400000">
            <a:off x="-4387507" y="3799478"/>
            <a:ext cx="10832414" cy="2688043"/>
          </a:xfrm>
          <a:custGeom>
            <a:avLst/>
            <a:gdLst/>
            <a:ahLst/>
            <a:cxnLst/>
            <a:rect r="r" b="b" t="t" l="l"/>
            <a:pathLst>
              <a:path h="2688043" w="10832414">
                <a:moveTo>
                  <a:pt x="0" y="0"/>
                </a:moveTo>
                <a:lnTo>
                  <a:pt x="10832414" y="0"/>
                </a:lnTo>
                <a:lnTo>
                  <a:pt x="10832414" y="2688044"/>
                </a:lnTo>
                <a:lnTo>
                  <a:pt x="0" y="268804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82671" y="50573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5400000">
            <a:off x="11846083" y="3655935"/>
            <a:ext cx="10832414" cy="2688043"/>
          </a:xfrm>
          <a:custGeom>
            <a:avLst/>
            <a:gdLst/>
            <a:ahLst/>
            <a:cxnLst/>
            <a:rect r="r" b="b" t="t" l="l"/>
            <a:pathLst>
              <a:path h="2688043" w="10832414">
                <a:moveTo>
                  <a:pt x="0" y="2688043"/>
                </a:moveTo>
                <a:lnTo>
                  <a:pt x="10832414" y="2688043"/>
                </a:lnTo>
                <a:lnTo>
                  <a:pt x="10832414" y="0"/>
                </a:lnTo>
                <a:lnTo>
                  <a:pt x="0" y="0"/>
                </a:lnTo>
                <a:lnTo>
                  <a:pt x="0" y="2688043"/>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3674361" y="505739"/>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0210800" y="1139042"/>
            <a:ext cx="6945944" cy="2848193"/>
            <a:chOff x="0" y="0"/>
            <a:chExt cx="1829384" cy="750141"/>
          </a:xfrm>
        </p:grpSpPr>
        <p:sp>
          <p:nvSpPr>
            <p:cNvPr name="Freeform 8" id="8"/>
            <p:cNvSpPr/>
            <p:nvPr/>
          </p:nvSpPr>
          <p:spPr>
            <a:xfrm flipH="false" flipV="false" rot="0">
              <a:off x="0" y="0"/>
              <a:ext cx="1829384" cy="750141"/>
            </a:xfrm>
            <a:custGeom>
              <a:avLst/>
              <a:gdLst/>
              <a:ahLst/>
              <a:cxnLst/>
              <a:rect r="r" b="b" t="t" l="l"/>
              <a:pathLst>
                <a:path h="750141" w="1829384">
                  <a:moveTo>
                    <a:pt x="32323" y="0"/>
                  </a:moveTo>
                  <a:lnTo>
                    <a:pt x="1797061" y="0"/>
                  </a:lnTo>
                  <a:cubicBezTo>
                    <a:pt x="1814913" y="0"/>
                    <a:pt x="1829384" y="14472"/>
                    <a:pt x="1829384" y="32323"/>
                  </a:cubicBezTo>
                  <a:lnTo>
                    <a:pt x="1829384" y="717818"/>
                  </a:lnTo>
                  <a:cubicBezTo>
                    <a:pt x="1829384" y="735670"/>
                    <a:pt x="1814913" y="750141"/>
                    <a:pt x="1797061" y="750141"/>
                  </a:cubicBezTo>
                  <a:lnTo>
                    <a:pt x="32323" y="750141"/>
                  </a:lnTo>
                  <a:cubicBezTo>
                    <a:pt x="14472" y="750141"/>
                    <a:pt x="0" y="735670"/>
                    <a:pt x="0" y="717818"/>
                  </a:cubicBezTo>
                  <a:lnTo>
                    <a:pt x="0" y="32323"/>
                  </a:lnTo>
                  <a:cubicBezTo>
                    <a:pt x="0" y="14472"/>
                    <a:pt x="14472" y="0"/>
                    <a:pt x="32323" y="0"/>
                  </a:cubicBezTo>
                  <a:close/>
                </a:path>
              </a:pathLst>
            </a:custGeom>
            <a:solidFill>
              <a:srgbClr val="FCF7EC">
                <a:alpha val="49804"/>
              </a:srgbClr>
            </a:solidFill>
          </p:spPr>
        </p:sp>
        <p:sp>
          <p:nvSpPr>
            <p:cNvPr name="TextBox 9" id="9"/>
            <p:cNvSpPr txBox="true"/>
            <p:nvPr/>
          </p:nvSpPr>
          <p:spPr>
            <a:xfrm>
              <a:off x="0" y="-38100"/>
              <a:ext cx="1829384" cy="788241"/>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0149653" y="4620539"/>
            <a:ext cx="6945944" cy="4019596"/>
            <a:chOff x="0" y="0"/>
            <a:chExt cx="1829384" cy="1058659"/>
          </a:xfrm>
        </p:grpSpPr>
        <p:sp>
          <p:nvSpPr>
            <p:cNvPr name="Freeform 11" id="11"/>
            <p:cNvSpPr/>
            <p:nvPr/>
          </p:nvSpPr>
          <p:spPr>
            <a:xfrm flipH="false" flipV="false" rot="0">
              <a:off x="0" y="0"/>
              <a:ext cx="1829384" cy="1058659"/>
            </a:xfrm>
            <a:custGeom>
              <a:avLst/>
              <a:gdLst/>
              <a:ahLst/>
              <a:cxnLst/>
              <a:rect r="r" b="b" t="t" l="l"/>
              <a:pathLst>
                <a:path h="1058659" w="1829384">
                  <a:moveTo>
                    <a:pt x="32323" y="0"/>
                  </a:moveTo>
                  <a:lnTo>
                    <a:pt x="1797061" y="0"/>
                  </a:lnTo>
                  <a:cubicBezTo>
                    <a:pt x="1814913" y="0"/>
                    <a:pt x="1829384" y="14472"/>
                    <a:pt x="1829384" y="32323"/>
                  </a:cubicBezTo>
                  <a:lnTo>
                    <a:pt x="1829384" y="1026336"/>
                  </a:lnTo>
                  <a:cubicBezTo>
                    <a:pt x="1829384" y="1044187"/>
                    <a:pt x="1814913" y="1058659"/>
                    <a:pt x="1797061" y="1058659"/>
                  </a:cubicBezTo>
                  <a:lnTo>
                    <a:pt x="32323" y="1058659"/>
                  </a:lnTo>
                  <a:cubicBezTo>
                    <a:pt x="14472" y="1058659"/>
                    <a:pt x="0" y="1044187"/>
                    <a:pt x="0" y="1026336"/>
                  </a:cubicBezTo>
                  <a:lnTo>
                    <a:pt x="0" y="32323"/>
                  </a:lnTo>
                  <a:cubicBezTo>
                    <a:pt x="0" y="14472"/>
                    <a:pt x="14472" y="0"/>
                    <a:pt x="32323" y="0"/>
                  </a:cubicBezTo>
                  <a:close/>
                </a:path>
              </a:pathLst>
            </a:custGeom>
            <a:solidFill>
              <a:srgbClr val="FCF7EC">
                <a:alpha val="49804"/>
              </a:srgbClr>
            </a:solidFill>
          </p:spPr>
        </p:sp>
        <p:sp>
          <p:nvSpPr>
            <p:cNvPr name="TextBox 12" id="12"/>
            <p:cNvSpPr txBox="true"/>
            <p:nvPr/>
          </p:nvSpPr>
          <p:spPr>
            <a:xfrm>
              <a:off x="0" y="-38100"/>
              <a:ext cx="1829384" cy="1096759"/>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5400000">
            <a:off x="5071815" y="3799478"/>
            <a:ext cx="10832414" cy="2688043"/>
          </a:xfrm>
          <a:custGeom>
            <a:avLst/>
            <a:gdLst/>
            <a:ahLst/>
            <a:cxnLst/>
            <a:rect r="r" b="b" t="t" l="l"/>
            <a:pathLst>
              <a:path h="2688043" w="10832414">
                <a:moveTo>
                  <a:pt x="0" y="0"/>
                </a:moveTo>
                <a:lnTo>
                  <a:pt x="10832413" y="0"/>
                </a:lnTo>
                <a:lnTo>
                  <a:pt x="10832413" y="2688044"/>
                </a:lnTo>
                <a:lnTo>
                  <a:pt x="0" y="2688044"/>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true" rot="5400000">
            <a:off x="2383772" y="3799478"/>
            <a:ext cx="10832414" cy="2688043"/>
          </a:xfrm>
          <a:custGeom>
            <a:avLst/>
            <a:gdLst/>
            <a:ahLst/>
            <a:cxnLst/>
            <a:rect r="r" b="b" t="t" l="l"/>
            <a:pathLst>
              <a:path h="2688043" w="10832414">
                <a:moveTo>
                  <a:pt x="0" y="2688044"/>
                </a:moveTo>
                <a:lnTo>
                  <a:pt x="10832413" y="2688044"/>
                </a:lnTo>
                <a:lnTo>
                  <a:pt x="10832413" y="0"/>
                </a:lnTo>
                <a:lnTo>
                  <a:pt x="0" y="0"/>
                </a:lnTo>
                <a:lnTo>
                  <a:pt x="0" y="2688044"/>
                </a:lnTo>
                <a:close/>
              </a:path>
            </a:pathLst>
          </a:custGeom>
          <a:blipFill>
            <a:blip r:embed="rId7">
              <a:alphaModFix amt="51000"/>
              <a:extLst>
                <a:ext uri="{96DAC541-7B7A-43D3-8B79-37D633B846F1}">
                  <asvg:svgBlip xmlns:asvg="http://schemas.microsoft.com/office/drawing/2016/SVG/main" r:embed="rId8"/>
                </a:ext>
              </a:extLst>
            </a:blip>
            <a:stretch>
              <a:fillRect l="0" t="0" r="0" b="0"/>
            </a:stretch>
          </a:blipFill>
        </p:spPr>
      </p:sp>
      <p:sp>
        <p:nvSpPr>
          <p:cNvPr name="AutoShape 15" id="15"/>
          <p:cNvSpPr/>
          <p:nvPr/>
        </p:nvSpPr>
        <p:spPr>
          <a:xfrm flipH="true">
            <a:off x="9144000" y="-416250"/>
            <a:ext cx="0" cy="10975957"/>
          </a:xfrm>
          <a:prstGeom prst="line">
            <a:avLst/>
          </a:prstGeom>
          <a:ln cap="flat" w="38100">
            <a:solidFill>
              <a:srgbClr val="231F20">
                <a:alpha val="44706"/>
              </a:srgbClr>
            </a:solidFill>
            <a:prstDash val="solid"/>
            <a:headEnd type="none" len="sm" w="sm"/>
            <a:tailEnd type="none" len="sm" w="sm"/>
          </a:ln>
        </p:spPr>
      </p:sp>
      <p:sp>
        <p:nvSpPr>
          <p:cNvPr name="TextBox 16" id="16"/>
          <p:cNvSpPr txBox="true"/>
          <p:nvPr/>
        </p:nvSpPr>
        <p:spPr>
          <a:xfrm rot="0">
            <a:off x="3095992" y="1362075"/>
            <a:ext cx="4895483" cy="3972669"/>
          </a:xfrm>
          <a:prstGeom prst="rect">
            <a:avLst/>
          </a:prstGeom>
        </p:spPr>
        <p:txBody>
          <a:bodyPr anchor="t" rtlCol="false" tIns="0" lIns="0" bIns="0" rIns="0">
            <a:spAutoFit/>
          </a:bodyPr>
          <a:lstStyle/>
          <a:p>
            <a:pPr algn="ctr">
              <a:lnSpc>
                <a:spcPts val="10136"/>
              </a:lnSpc>
            </a:pPr>
            <a:r>
              <a:rPr lang="en-US" sz="11389">
                <a:solidFill>
                  <a:srgbClr val="231F20"/>
                </a:solidFill>
                <a:latin typeface="Comforter Brush"/>
                <a:ea typeface="Comforter Brush"/>
                <a:cs typeface="Comforter Brush"/>
                <a:sym typeface="Comforter Brush"/>
              </a:rPr>
              <a:t>problem </a:t>
            </a:r>
          </a:p>
          <a:p>
            <a:pPr algn="ctr">
              <a:lnSpc>
                <a:spcPts val="10136"/>
              </a:lnSpc>
            </a:pPr>
            <a:r>
              <a:rPr lang="en-US" sz="11389">
                <a:solidFill>
                  <a:srgbClr val="231F20"/>
                </a:solidFill>
                <a:latin typeface="Comforter Brush"/>
                <a:ea typeface="Comforter Brush"/>
                <a:cs typeface="Comforter Brush"/>
                <a:sym typeface="Comforter Brush"/>
              </a:rPr>
              <a:t>&amp;</a:t>
            </a:r>
          </a:p>
          <a:p>
            <a:pPr algn="ctr">
              <a:lnSpc>
                <a:spcPts val="10136"/>
              </a:lnSpc>
            </a:pPr>
            <a:r>
              <a:rPr lang="en-US" sz="11389">
                <a:solidFill>
                  <a:srgbClr val="231F20"/>
                </a:solidFill>
                <a:latin typeface="Comforter Brush"/>
                <a:ea typeface="Comforter Brush"/>
                <a:cs typeface="Comforter Brush"/>
                <a:sym typeface="Comforter Brush"/>
              </a:rPr>
              <a:t>Approach</a:t>
            </a:r>
          </a:p>
        </p:txBody>
      </p:sp>
      <p:sp>
        <p:nvSpPr>
          <p:cNvPr name="TextBox 17" id="17"/>
          <p:cNvSpPr txBox="true"/>
          <p:nvPr/>
        </p:nvSpPr>
        <p:spPr>
          <a:xfrm rot="0">
            <a:off x="10798536" y="2284979"/>
            <a:ext cx="6049825" cy="1234201"/>
          </a:xfrm>
          <a:prstGeom prst="rect">
            <a:avLst/>
          </a:prstGeom>
        </p:spPr>
        <p:txBody>
          <a:bodyPr anchor="t" rtlCol="false" tIns="0" lIns="0" bIns="0" rIns="0">
            <a:spAutoFit/>
          </a:bodyPr>
          <a:lstStyle/>
          <a:p>
            <a:pPr algn="ctr">
              <a:lnSpc>
                <a:spcPts val="2465"/>
              </a:lnSpc>
            </a:pPr>
            <a:r>
              <a:rPr lang="en-US" b="true" sz="2465">
                <a:solidFill>
                  <a:srgbClr val="231F20"/>
                </a:solidFill>
                <a:latin typeface="Linux Biolinum Bold"/>
                <a:ea typeface="Linux Biolinum Bold"/>
                <a:cs typeface="Linux Biolinum Bold"/>
                <a:sym typeface="Linux Biolinum Bold"/>
              </a:rPr>
              <a:t>As per niti ayog Repeot there is credit gap 330 Billion in MSME , even with profits every year MSME are not getting the loans they are deserving</a:t>
            </a:r>
          </a:p>
        </p:txBody>
      </p:sp>
      <p:sp>
        <p:nvSpPr>
          <p:cNvPr name="TextBox 18" id="18"/>
          <p:cNvSpPr txBox="true"/>
          <p:nvPr/>
        </p:nvSpPr>
        <p:spPr>
          <a:xfrm rot="0">
            <a:off x="10798536" y="5762625"/>
            <a:ext cx="6049825" cy="2617866"/>
          </a:xfrm>
          <a:prstGeom prst="rect">
            <a:avLst/>
          </a:prstGeom>
        </p:spPr>
        <p:txBody>
          <a:bodyPr anchor="t" rtlCol="false" tIns="0" lIns="0" bIns="0" rIns="0">
            <a:spAutoFit/>
          </a:bodyPr>
          <a:lstStyle/>
          <a:p>
            <a:pPr algn="ctr">
              <a:lnSpc>
                <a:spcPts val="2565"/>
              </a:lnSpc>
            </a:pPr>
            <a:r>
              <a:rPr lang="en-US" sz="2565" b="true">
                <a:solidFill>
                  <a:srgbClr val="231F20"/>
                </a:solidFill>
                <a:latin typeface="Linux Biolinum Bold"/>
                <a:ea typeface="Linux Biolinum Bold"/>
                <a:cs typeface="Linux Biolinum Bold"/>
                <a:sym typeface="Linux Biolinum Bold"/>
              </a:rPr>
              <a:t>We went through SIDBI, MSME pulse, MSME minsitry reports and conducted a case study.</a:t>
            </a:r>
          </a:p>
          <a:p>
            <a:pPr algn="ctr">
              <a:lnSpc>
                <a:spcPts val="2565"/>
              </a:lnSpc>
            </a:pPr>
          </a:p>
          <a:p>
            <a:pPr algn="ctr">
              <a:lnSpc>
                <a:spcPts val="2565"/>
              </a:lnSpc>
            </a:pPr>
            <a:r>
              <a:rPr lang="en-US" b="true" sz="2565">
                <a:solidFill>
                  <a:srgbClr val="231F20"/>
                </a:solidFill>
                <a:latin typeface="Linux Biolinum Bold"/>
                <a:ea typeface="Linux Biolinum Bold"/>
                <a:cs typeface="Linux Biolinum Bold"/>
                <a:sym typeface="Linux Biolinum Bold"/>
              </a:rPr>
              <a:t>Conducted a feild survey participated by more than 40 msme owners regarding the issue severity, effectivness of government schemes</a:t>
            </a:r>
          </a:p>
        </p:txBody>
      </p:sp>
      <p:sp>
        <p:nvSpPr>
          <p:cNvPr name="TextBox 19" id="19"/>
          <p:cNvSpPr txBox="true"/>
          <p:nvPr/>
        </p:nvSpPr>
        <p:spPr>
          <a:xfrm rot="0">
            <a:off x="12581147" y="1466121"/>
            <a:ext cx="2205249" cy="419100"/>
          </a:xfrm>
          <a:prstGeom prst="rect">
            <a:avLst/>
          </a:prstGeom>
        </p:spPr>
        <p:txBody>
          <a:bodyPr anchor="t" rtlCol="false" tIns="0" lIns="0" bIns="0" rIns="0">
            <a:spAutoFit/>
          </a:bodyPr>
          <a:lstStyle/>
          <a:p>
            <a:pPr algn="ctr">
              <a:lnSpc>
                <a:spcPts val="3000"/>
              </a:lnSpc>
            </a:pPr>
            <a:r>
              <a:rPr lang="en-US" b="true" sz="3000">
                <a:solidFill>
                  <a:srgbClr val="231F20"/>
                </a:solidFill>
                <a:latin typeface="Linux Biolinum Bold"/>
                <a:ea typeface="Linux Biolinum Bold"/>
                <a:cs typeface="Linux Biolinum Bold"/>
                <a:sym typeface="Linux Biolinum Bold"/>
              </a:rPr>
              <a:t>PROBLEM</a:t>
            </a:r>
          </a:p>
        </p:txBody>
      </p:sp>
      <p:sp>
        <p:nvSpPr>
          <p:cNvPr name="TextBox 20" id="20"/>
          <p:cNvSpPr txBox="true"/>
          <p:nvPr/>
        </p:nvSpPr>
        <p:spPr>
          <a:xfrm rot="0">
            <a:off x="12027259" y="4953000"/>
            <a:ext cx="3190733" cy="419100"/>
          </a:xfrm>
          <a:prstGeom prst="rect">
            <a:avLst/>
          </a:prstGeom>
        </p:spPr>
        <p:txBody>
          <a:bodyPr anchor="t" rtlCol="false" tIns="0" lIns="0" bIns="0" rIns="0">
            <a:spAutoFit/>
          </a:bodyPr>
          <a:lstStyle/>
          <a:p>
            <a:pPr algn="ctr">
              <a:lnSpc>
                <a:spcPts val="3000"/>
              </a:lnSpc>
            </a:pPr>
            <a:r>
              <a:rPr lang="en-US" b="true" sz="3000">
                <a:solidFill>
                  <a:srgbClr val="231F20"/>
                </a:solidFill>
                <a:latin typeface="Linux Biolinum Bold"/>
                <a:ea typeface="Linux Biolinum Bold"/>
                <a:cs typeface="Linux Biolinum Bold"/>
                <a:sym typeface="Linux Biolinum Bold"/>
              </a:rPr>
              <a:t>OUR APPROACH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983" r="0" b="-4983"/>
            </a:stretch>
          </a:blipFill>
        </p:spPr>
      </p:sp>
      <p:sp>
        <p:nvSpPr>
          <p:cNvPr name="Freeform 3" id="3"/>
          <p:cNvSpPr/>
          <p:nvPr/>
        </p:nvSpPr>
        <p:spPr>
          <a:xfrm flipH="false" flipV="false" rot="5400000">
            <a:off x="-4387507" y="3799478"/>
            <a:ext cx="10832414" cy="2688043"/>
          </a:xfrm>
          <a:custGeom>
            <a:avLst/>
            <a:gdLst/>
            <a:ahLst/>
            <a:cxnLst/>
            <a:rect r="r" b="b" t="t" l="l"/>
            <a:pathLst>
              <a:path h="2688043" w="10832414">
                <a:moveTo>
                  <a:pt x="0" y="0"/>
                </a:moveTo>
                <a:lnTo>
                  <a:pt x="10832414" y="0"/>
                </a:lnTo>
                <a:lnTo>
                  <a:pt x="10832414" y="2688044"/>
                </a:lnTo>
                <a:lnTo>
                  <a:pt x="0" y="268804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82671" y="50573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5400000">
            <a:off x="11846083" y="3655935"/>
            <a:ext cx="10832414" cy="2688043"/>
          </a:xfrm>
          <a:custGeom>
            <a:avLst/>
            <a:gdLst/>
            <a:ahLst/>
            <a:cxnLst/>
            <a:rect r="r" b="b" t="t" l="l"/>
            <a:pathLst>
              <a:path h="2688043" w="10832414">
                <a:moveTo>
                  <a:pt x="0" y="2688043"/>
                </a:moveTo>
                <a:lnTo>
                  <a:pt x="10832414" y="2688043"/>
                </a:lnTo>
                <a:lnTo>
                  <a:pt x="10832414" y="0"/>
                </a:lnTo>
                <a:lnTo>
                  <a:pt x="0" y="0"/>
                </a:lnTo>
                <a:lnTo>
                  <a:pt x="0" y="2688043"/>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3674361" y="505739"/>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0877550" y="1461718"/>
            <a:ext cx="3524708" cy="2215711"/>
            <a:chOff x="0" y="0"/>
            <a:chExt cx="928318" cy="583562"/>
          </a:xfrm>
        </p:grpSpPr>
        <p:sp>
          <p:nvSpPr>
            <p:cNvPr name="Freeform 8" id="8"/>
            <p:cNvSpPr/>
            <p:nvPr/>
          </p:nvSpPr>
          <p:spPr>
            <a:xfrm flipH="false" flipV="false" rot="0">
              <a:off x="0" y="0"/>
              <a:ext cx="928318" cy="583562"/>
            </a:xfrm>
            <a:custGeom>
              <a:avLst/>
              <a:gdLst/>
              <a:ahLst/>
              <a:cxnLst/>
              <a:rect r="r" b="b" t="t" l="l"/>
              <a:pathLst>
                <a:path h="583562" w="928318">
                  <a:moveTo>
                    <a:pt x="63698" y="0"/>
                  </a:moveTo>
                  <a:lnTo>
                    <a:pt x="864620" y="0"/>
                  </a:lnTo>
                  <a:cubicBezTo>
                    <a:pt x="881514" y="0"/>
                    <a:pt x="897716" y="6711"/>
                    <a:pt x="909661" y="18657"/>
                  </a:cubicBezTo>
                  <a:cubicBezTo>
                    <a:pt x="921607" y="30602"/>
                    <a:pt x="928318" y="46804"/>
                    <a:pt x="928318" y="63698"/>
                  </a:cubicBezTo>
                  <a:lnTo>
                    <a:pt x="928318" y="519864"/>
                  </a:lnTo>
                  <a:cubicBezTo>
                    <a:pt x="928318" y="536758"/>
                    <a:pt x="921607" y="552960"/>
                    <a:pt x="909661" y="564905"/>
                  </a:cubicBezTo>
                  <a:cubicBezTo>
                    <a:pt x="897716" y="576851"/>
                    <a:pt x="881514" y="583562"/>
                    <a:pt x="864620" y="583562"/>
                  </a:cubicBezTo>
                  <a:lnTo>
                    <a:pt x="63698" y="583562"/>
                  </a:lnTo>
                  <a:cubicBezTo>
                    <a:pt x="46804" y="583562"/>
                    <a:pt x="30602" y="576851"/>
                    <a:pt x="18657" y="564905"/>
                  </a:cubicBezTo>
                  <a:cubicBezTo>
                    <a:pt x="6711" y="552960"/>
                    <a:pt x="0" y="536758"/>
                    <a:pt x="0" y="519864"/>
                  </a:cubicBezTo>
                  <a:lnTo>
                    <a:pt x="0" y="63698"/>
                  </a:lnTo>
                  <a:cubicBezTo>
                    <a:pt x="0" y="46804"/>
                    <a:pt x="6711" y="30602"/>
                    <a:pt x="18657" y="18657"/>
                  </a:cubicBezTo>
                  <a:cubicBezTo>
                    <a:pt x="30602" y="6711"/>
                    <a:pt x="46804" y="0"/>
                    <a:pt x="63698" y="0"/>
                  </a:cubicBezTo>
                  <a:close/>
                </a:path>
              </a:pathLst>
            </a:custGeom>
            <a:solidFill>
              <a:srgbClr val="FCF7EC">
                <a:alpha val="49804"/>
              </a:srgbClr>
            </a:solidFill>
          </p:spPr>
        </p:sp>
        <p:sp>
          <p:nvSpPr>
            <p:cNvPr name="TextBox 9" id="9"/>
            <p:cNvSpPr txBox="true"/>
            <p:nvPr/>
          </p:nvSpPr>
          <p:spPr>
            <a:xfrm>
              <a:off x="0" y="-38100"/>
              <a:ext cx="928318" cy="621662"/>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0877550" y="6609571"/>
            <a:ext cx="3524708" cy="2215711"/>
            <a:chOff x="0" y="0"/>
            <a:chExt cx="928318" cy="583562"/>
          </a:xfrm>
        </p:grpSpPr>
        <p:sp>
          <p:nvSpPr>
            <p:cNvPr name="Freeform 11" id="11"/>
            <p:cNvSpPr/>
            <p:nvPr/>
          </p:nvSpPr>
          <p:spPr>
            <a:xfrm flipH="false" flipV="false" rot="0">
              <a:off x="0" y="0"/>
              <a:ext cx="928318" cy="583562"/>
            </a:xfrm>
            <a:custGeom>
              <a:avLst/>
              <a:gdLst/>
              <a:ahLst/>
              <a:cxnLst/>
              <a:rect r="r" b="b" t="t" l="l"/>
              <a:pathLst>
                <a:path h="583562" w="928318">
                  <a:moveTo>
                    <a:pt x="63698" y="0"/>
                  </a:moveTo>
                  <a:lnTo>
                    <a:pt x="864620" y="0"/>
                  </a:lnTo>
                  <a:cubicBezTo>
                    <a:pt x="881514" y="0"/>
                    <a:pt x="897716" y="6711"/>
                    <a:pt x="909661" y="18657"/>
                  </a:cubicBezTo>
                  <a:cubicBezTo>
                    <a:pt x="921607" y="30602"/>
                    <a:pt x="928318" y="46804"/>
                    <a:pt x="928318" y="63698"/>
                  </a:cubicBezTo>
                  <a:lnTo>
                    <a:pt x="928318" y="519864"/>
                  </a:lnTo>
                  <a:cubicBezTo>
                    <a:pt x="928318" y="536758"/>
                    <a:pt x="921607" y="552960"/>
                    <a:pt x="909661" y="564905"/>
                  </a:cubicBezTo>
                  <a:cubicBezTo>
                    <a:pt x="897716" y="576851"/>
                    <a:pt x="881514" y="583562"/>
                    <a:pt x="864620" y="583562"/>
                  </a:cubicBezTo>
                  <a:lnTo>
                    <a:pt x="63698" y="583562"/>
                  </a:lnTo>
                  <a:cubicBezTo>
                    <a:pt x="46804" y="583562"/>
                    <a:pt x="30602" y="576851"/>
                    <a:pt x="18657" y="564905"/>
                  </a:cubicBezTo>
                  <a:cubicBezTo>
                    <a:pt x="6711" y="552960"/>
                    <a:pt x="0" y="536758"/>
                    <a:pt x="0" y="519864"/>
                  </a:cubicBezTo>
                  <a:lnTo>
                    <a:pt x="0" y="63698"/>
                  </a:lnTo>
                  <a:cubicBezTo>
                    <a:pt x="0" y="46804"/>
                    <a:pt x="6711" y="30602"/>
                    <a:pt x="18657" y="18657"/>
                  </a:cubicBezTo>
                  <a:cubicBezTo>
                    <a:pt x="30602" y="6711"/>
                    <a:pt x="46804" y="0"/>
                    <a:pt x="63698" y="0"/>
                  </a:cubicBezTo>
                  <a:close/>
                </a:path>
              </a:pathLst>
            </a:custGeom>
            <a:solidFill>
              <a:srgbClr val="FCF7EC">
                <a:alpha val="49804"/>
              </a:srgbClr>
            </a:solidFill>
          </p:spPr>
        </p:sp>
        <p:sp>
          <p:nvSpPr>
            <p:cNvPr name="TextBox 12" id="12"/>
            <p:cNvSpPr txBox="true"/>
            <p:nvPr/>
          </p:nvSpPr>
          <p:spPr>
            <a:xfrm>
              <a:off x="0" y="-38100"/>
              <a:ext cx="928318" cy="62166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5400000">
            <a:off x="5071815" y="3799478"/>
            <a:ext cx="10832414" cy="2688043"/>
          </a:xfrm>
          <a:custGeom>
            <a:avLst/>
            <a:gdLst/>
            <a:ahLst/>
            <a:cxnLst/>
            <a:rect r="r" b="b" t="t" l="l"/>
            <a:pathLst>
              <a:path h="2688043" w="10832414">
                <a:moveTo>
                  <a:pt x="0" y="0"/>
                </a:moveTo>
                <a:lnTo>
                  <a:pt x="10832413" y="0"/>
                </a:lnTo>
                <a:lnTo>
                  <a:pt x="10832413" y="2688044"/>
                </a:lnTo>
                <a:lnTo>
                  <a:pt x="0" y="2688044"/>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true" rot="5400000">
            <a:off x="2383772" y="3799478"/>
            <a:ext cx="10832414" cy="2688043"/>
          </a:xfrm>
          <a:custGeom>
            <a:avLst/>
            <a:gdLst/>
            <a:ahLst/>
            <a:cxnLst/>
            <a:rect r="r" b="b" t="t" l="l"/>
            <a:pathLst>
              <a:path h="2688043" w="10832414">
                <a:moveTo>
                  <a:pt x="0" y="2688044"/>
                </a:moveTo>
                <a:lnTo>
                  <a:pt x="10832413" y="2688044"/>
                </a:lnTo>
                <a:lnTo>
                  <a:pt x="10832413" y="0"/>
                </a:lnTo>
                <a:lnTo>
                  <a:pt x="0" y="0"/>
                </a:lnTo>
                <a:lnTo>
                  <a:pt x="0" y="2688044"/>
                </a:lnTo>
                <a:close/>
              </a:path>
            </a:pathLst>
          </a:custGeom>
          <a:blipFill>
            <a:blip r:embed="rId7">
              <a:alphaModFix amt="51000"/>
              <a:extLst>
                <a:ext uri="{96DAC541-7B7A-43D3-8B79-37D633B846F1}">
                  <asvg:svgBlip xmlns:asvg="http://schemas.microsoft.com/office/drawing/2016/SVG/main" r:embed="rId8"/>
                </a:ext>
              </a:extLst>
            </a:blip>
            <a:stretch>
              <a:fillRect l="0" t="0" r="0" b="0"/>
            </a:stretch>
          </a:blipFill>
        </p:spPr>
      </p:sp>
      <p:sp>
        <p:nvSpPr>
          <p:cNvPr name="AutoShape 15" id="15"/>
          <p:cNvSpPr/>
          <p:nvPr/>
        </p:nvSpPr>
        <p:spPr>
          <a:xfrm flipH="true">
            <a:off x="9144000" y="-416250"/>
            <a:ext cx="0" cy="10975957"/>
          </a:xfrm>
          <a:prstGeom prst="line">
            <a:avLst/>
          </a:prstGeom>
          <a:ln cap="flat" w="38100">
            <a:solidFill>
              <a:srgbClr val="231F20">
                <a:alpha val="44706"/>
              </a:srgbClr>
            </a:solidFill>
            <a:prstDash val="solid"/>
            <a:headEnd type="none" len="sm" w="sm"/>
            <a:tailEnd type="none" len="sm" w="sm"/>
          </a:ln>
        </p:spPr>
      </p:sp>
      <p:sp>
        <p:nvSpPr>
          <p:cNvPr name="Freeform 16" id="16"/>
          <p:cNvSpPr/>
          <p:nvPr/>
        </p:nvSpPr>
        <p:spPr>
          <a:xfrm flipH="false" flipV="false" rot="0">
            <a:off x="11106567" y="2714887"/>
            <a:ext cx="3066675" cy="128243"/>
          </a:xfrm>
          <a:custGeom>
            <a:avLst/>
            <a:gdLst/>
            <a:ahLst/>
            <a:cxnLst/>
            <a:rect r="r" b="b" t="t" l="l"/>
            <a:pathLst>
              <a:path h="128243" w="3066675">
                <a:moveTo>
                  <a:pt x="0" y="0"/>
                </a:moveTo>
                <a:lnTo>
                  <a:pt x="3066674" y="0"/>
                </a:lnTo>
                <a:lnTo>
                  <a:pt x="3066674" y="128243"/>
                </a:lnTo>
                <a:lnTo>
                  <a:pt x="0" y="1282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7" id="17"/>
          <p:cNvGrpSpPr/>
          <p:nvPr/>
        </p:nvGrpSpPr>
        <p:grpSpPr>
          <a:xfrm rot="0">
            <a:off x="13173154" y="4035645"/>
            <a:ext cx="3524708" cy="2215711"/>
            <a:chOff x="0" y="0"/>
            <a:chExt cx="928318" cy="583562"/>
          </a:xfrm>
        </p:grpSpPr>
        <p:sp>
          <p:nvSpPr>
            <p:cNvPr name="Freeform 18" id="18"/>
            <p:cNvSpPr/>
            <p:nvPr/>
          </p:nvSpPr>
          <p:spPr>
            <a:xfrm flipH="false" flipV="false" rot="0">
              <a:off x="0" y="0"/>
              <a:ext cx="928318" cy="583562"/>
            </a:xfrm>
            <a:custGeom>
              <a:avLst/>
              <a:gdLst/>
              <a:ahLst/>
              <a:cxnLst/>
              <a:rect r="r" b="b" t="t" l="l"/>
              <a:pathLst>
                <a:path h="583562" w="928318">
                  <a:moveTo>
                    <a:pt x="63698" y="0"/>
                  </a:moveTo>
                  <a:lnTo>
                    <a:pt x="864620" y="0"/>
                  </a:lnTo>
                  <a:cubicBezTo>
                    <a:pt x="881514" y="0"/>
                    <a:pt x="897716" y="6711"/>
                    <a:pt x="909661" y="18657"/>
                  </a:cubicBezTo>
                  <a:cubicBezTo>
                    <a:pt x="921607" y="30602"/>
                    <a:pt x="928318" y="46804"/>
                    <a:pt x="928318" y="63698"/>
                  </a:cubicBezTo>
                  <a:lnTo>
                    <a:pt x="928318" y="519864"/>
                  </a:lnTo>
                  <a:cubicBezTo>
                    <a:pt x="928318" y="536758"/>
                    <a:pt x="921607" y="552960"/>
                    <a:pt x="909661" y="564905"/>
                  </a:cubicBezTo>
                  <a:cubicBezTo>
                    <a:pt x="897716" y="576851"/>
                    <a:pt x="881514" y="583562"/>
                    <a:pt x="864620" y="583562"/>
                  </a:cubicBezTo>
                  <a:lnTo>
                    <a:pt x="63698" y="583562"/>
                  </a:lnTo>
                  <a:cubicBezTo>
                    <a:pt x="46804" y="583562"/>
                    <a:pt x="30602" y="576851"/>
                    <a:pt x="18657" y="564905"/>
                  </a:cubicBezTo>
                  <a:cubicBezTo>
                    <a:pt x="6711" y="552960"/>
                    <a:pt x="0" y="536758"/>
                    <a:pt x="0" y="519864"/>
                  </a:cubicBezTo>
                  <a:lnTo>
                    <a:pt x="0" y="63698"/>
                  </a:lnTo>
                  <a:cubicBezTo>
                    <a:pt x="0" y="46804"/>
                    <a:pt x="6711" y="30602"/>
                    <a:pt x="18657" y="18657"/>
                  </a:cubicBezTo>
                  <a:cubicBezTo>
                    <a:pt x="30602" y="6711"/>
                    <a:pt x="46804" y="0"/>
                    <a:pt x="63698" y="0"/>
                  </a:cubicBezTo>
                  <a:close/>
                </a:path>
              </a:pathLst>
            </a:custGeom>
            <a:solidFill>
              <a:srgbClr val="FCF7EC">
                <a:alpha val="49804"/>
              </a:srgbClr>
            </a:solidFill>
          </p:spPr>
        </p:sp>
        <p:sp>
          <p:nvSpPr>
            <p:cNvPr name="TextBox 19" id="19"/>
            <p:cNvSpPr txBox="true"/>
            <p:nvPr/>
          </p:nvSpPr>
          <p:spPr>
            <a:xfrm>
              <a:off x="0" y="-38100"/>
              <a:ext cx="928318" cy="621662"/>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3402170" y="5069093"/>
            <a:ext cx="3066675" cy="128243"/>
          </a:xfrm>
          <a:custGeom>
            <a:avLst/>
            <a:gdLst/>
            <a:ahLst/>
            <a:cxnLst/>
            <a:rect r="r" b="b" t="t" l="l"/>
            <a:pathLst>
              <a:path h="128243" w="3066675">
                <a:moveTo>
                  <a:pt x="0" y="0"/>
                </a:moveTo>
                <a:lnTo>
                  <a:pt x="3066675" y="0"/>
                </a:lnTo>
                <a:lnTo>
                  <a:pt x="3066675" y="128243"/>
                </a:lnTo>
                <a:lnTo>
                  <a:pt x="0" y="1282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11106567" y="7717426"/>
            <a:ext cx="3066675" cy="128243"/>
          </a:xfrm>
          <a:custGeom>
            <a:avLst/>
            <a:gdLst/>
            <a:ahLst/>
            <a:cxnLst/>
            <a:rect r="r" b="b" t="t" l="l"/>
            <a:pathLst>
              <a:path h="128243" w="3066675">
                <a:moveTo>
                  <a:pt x="0" y="0"/>
                </a:moveTo>
                <a:lnTo>
                  <a:pt x="3066674" y="0"/>
                </a:lnTo>
                <a:lnTo>
                  <a:pt x="3066674" y="128243"/>
                </a:lnTo>
                <a:lnTo>
                  <a:pt x="0" y="1282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2" id="22"/>
          <p:cNvSpPr/>
          <p:nvPr/>
        </p:nvSpPr>
        <p:spPr>
          <a:xfrm flipH="false" flipV="true" rot="2774281">
            <a:off x="14402258" y="2544050"/>
            <a:ext cx="2014007" cy="640820"/>
          </a:xfrm>
          <a:custGeom>
            <a:avLst/>
            <a:gdLst/>
            <a:ahLst/>
            <a:cxnLst/>
            <a:rect r="r" b="b" t="t" l="l"/>
            <a:pathLst>
              <a:path h="640820" w="2014007">
                <a:moveTo>
                  <a:pt x="0" y="640820"/>
                </a:moveTo>
                <a:lnTo>
                  <a:pt x="2014007" y="640820"/>
                </a:lnTo>
                <a:lnTo>
                  <a:pt x="2014007" y="0"/>
                </a:lnTo>
                <a:lnTo>
                  <a:pt x="0" y="0"/>
                </a:lnTo>
                <a:lnTo>
                  <a:pt x="0" y="640820"/>
                </a:lnTo>
                <a:close/>
              </a:path>
            </a:pathLst>
          </a:custGeom>
          <a:blipFill>
            <a:blip r:embed="rId11">
              <a:alphaModFix amt="50000"/>
              <a:extLst>
                <a:ext uri="{96DAC541-7B7A-43D3-8B79-37D633B846F1}">
                  <asvg:svgBlip xmlns:asvg="http://schemas.microsoft.com/office/drawing/2016/SVG/main" r:embed="rId12"/>
                </a:ext>
              </a:extLst>
            </a:blip>
            <a:stretch>
              <a:fillRect l="0" t="0" r="0" b="0"/>
            </a:stretch>
          </a:blipFill>
        </p:spPr>
      </p:sp>
      <p:sp>
        <p:nvSpPr>
          <p:cNvPr name="Freeform 23" id="23"/>
          <p:cNvSpPr/>
          <p:nvPr/>
        </p:nvSpPr>
        <p:spPr>
          <a:xfrm flipH="false" flipV="true" rot="7447712">
            <a:off x="14499962" y="7163365"/>
            <a:ext cx="2014007" cy="640820"/>
          </a:xfrm>
          <a:custGeom>
            <a:avLst/>
            <a:gdLst/>
            <a:ahLst/>
            <a:cxnLst/>
            <a:rect r="r" b="b" t="t" l="l"/>
            <a:pathLst>
              <a:path h="640820" w="2014007">
                <a:moveTo>
                  <a:pt x="0" y="640821"/>
                </a:moveTo>
                <a:lnTo>
                  <a:pt x="2014007" y="640821"/>
                </a:lnTo>
                <a:lnTo>
                  <a:pt x="2014007" y="0"/>
                </a:lnTo>
                <a:lnTo>
                  <a:pt x="0" y="0"/>
                </a:lnTo>
                <a:lnTo>
                  <a:pt x="0" y="640821"/>
                </a:lnTo>
                <a:close/>
              </a:path>
            </a:pathLst>
          </a:custGeom>
          <a:blipFill>
            <a:blip r:embed="rId11">
              <a:alphaModFix amt="50000"/>
              <a:extLst>
                <a:ext uri="{96DAC541-7B7A-43D3-8B79-37D633B846F1}">
                  <asvg:svgBlip xmlns:asvg="http://schemas.microsoft.com/office/drawing/2016/SVG/main" r:embed="rId12"/>
                </a:ext>
              </a:extLst>
            </a:blip>
            <a:stretch>
              <a:fillRect l="0" t="0" r="0" b="0"/>
            </a:stretch>
          </a:blipFill>
        </p:spPr>
      </p:sp>
      <p:sp>
        <p:nvSpPr>
          <p:cNvPr name="TextBox 24" id="24"/>
          <p:cNvSpPr txBox="true"/>
          <p:nvPr/>
        </p:nvSpPr>
        <p:spPr>
          <a:xfrm rot="0">
            <a:off x="11264163" y="1871984"/>
            <a:ext cx="2751481" cy="800100"/>
          </a:xfrm>
          <a:prstGeom prst="rect">
            <a:avLst/>
          </a:prstGeom>
        </p:spPr>
        <p:txBody>
          <a:bodyPr anchor="t" rtlCol="false" tIns="0" lIns="0" bIns="0" rIns="0">
            <a:spAutoFit/>
          </a:bodyPr>
          <a:lstStyle/>
          <a:p>
            <a:pPr algn="ctr">
              <a:lnSpc>
                <a:spcPts val="3000"/>
              </a:lnSpc>
            </a:pPr>
            <a:r>
              <a:rPr lang="en-US" b="true" sz="3000">
                <a:solidFill>
                  <a:srgbClr val="231F20"/>
                </a:solidFill>
                <a:latin typeface="Linux Biolinum Bold"/>
                <a:ea typeface="Linux Biolinum Bold"/>
                <a:cs typeface="Linux Biolinum Bold"/>
                <a:sym typeface="Linux Biolinum Bold"/>
              </a:rPr>
              <a:t>NITI AYOG RPEORT</a:t>
            </a:r>
          </a:p>
        </p:txBody>
      </p:sp>
      <p:sp>
        <p:nvSpPr>
          <p:cNvPr name="TextBox 25" id="25"/>
          <p:cNvSpPr txBox="true"/>
          <p:nvPr/>
        </p:nvSpPr>
        <p:spPr>
          <a:xfrm rot="0">
            <a:off x="11879910" y="2924033"/>
            <a:ext cx="1519987" cy="283606"/>
          </a:xfrm>
          <a:prstGeom prst="rect">
            <a:avLst/>
          </a:prstGeom>
        </p:spPr>
        <p:txBody>
          <a:bodyPr anchor="t" rtlCol="false" tIns="0" lIns="0" bIns="0" rIns="0">
            <a:spAutoFit/>
          </a:bodyPr>
          <a:lstStyle/>
          <a:p>
            <a:pPr algn="ctr">
              <a:lnSpc>
                <a:spcPts val="2165"/>
              </a:lnSpc>
            </a:pPr>
            <a:r>
              <a:rPr lang="en-US" b="true" sz="2165">
                <a:solidFill>
                  <a:srgbClr val="231F20"/>
                </a:solidFill>
                <a:latin typeface="Linux Biolinum Bold"/>
                <a:ea typeface="Linux Biolinum Bold"/>
                <a:cs typeface="Linux Biolinum Bold"/>
                <a:sym typeface="Linux Biolinum Bold"/>
              </a:rPr>
              <a:t>2021</a:t>
            </a:r>
          </a:p>
        </p:txBody>
      </p:sp>
      <p:sp>
        <p:nvSpPr>
          <p:cNvPr name="TextBox 26" id="26"/>
          <p:cNvSpPr txBox="true"/>
          <p:nvPr/>
        </p:nvSpPr>
        <p:spPr>
          <a:xfrm rot="0">
            <a:off x="13179644" y="4199856"/>
            <a:ext cx="3518218" cy="800100"/>
          </a:xfrm>
          <a:prstGeom prst="rect">
            <a:avLst/>
          </a:prstGeom>
        </p:spPr>
        <p:txBody>
          <a:bodyPr anchor="t" rtlCol="false" tIns="0" lIns="0" bIns="0" rIns="0">
            <a:spAutoFit/>
          </a:bodyPr>
          <a:lstStyle/>
          <a:p>
            <a:pPr algn="ctr">
              <a:lnSpc>
                <a:spcPts val="3000"/>
              </a:lnSpc>
            </a:pPr>
            <a:r>
              <a:rPr lang="en-US" b="true" sz="3000">
                <a:solidFill>
                  <a:srgbClr val="231F20"/>
                </a:solidFill>
                <a:latin typeface="Linux Biolinum Bold"/>
                <a:ea typeface="Linux Biolinum Bold"/>
                <a:cs typeface="Linux Biolinum Bold"/>
                <a:sym typeface="Linux Biolinum Bold"/>
              </a:rPr>
              <a:t>GOVERNEMENT SCHEMES, OCEN</a:t>
            </a:r>
          </a:p>
        </p:txBody>
      </p:sp>
      <p:sp>
        <p:nvSpPr>
          <p:cNvPr name="TextBox 27" id="27"/>
          <p:cNvSpPr txBox="true"/>
          <p:nvPr/>
        </p:nvSpPr>
        <p:spPr>
          <a:xfrm rot="0">
            <a:off x="14175514" y="5278240"/>
            <a:ext cx="1519987" cy="283606"/>
          </a:xfrm>
          <a:prstGeom prst="rect">
            <a:avLst/>
          </a:prstGeom>
        </p:spPr>
        <p:txBody>
          <a:bodyPr anchor="t" rtlCol="false" tIns="0" lIns="0" bIns="0" rIns="0">
            <a:spAutoFit/>
          </a:bodyPr>
          <a:lstStyle/>
          <a:p>
            <a:pPr algn="ctr">
              <a:lnSpc>
                <a:spcPts val="2165"/>
              </a:lnSpc>
            </a:pPr>
            <a:r>
              <a:rPr lang="en-US" b="true" sz="2165">
                <a:solidFill>
                  <a:srgbClr val="231F20"/>
                </a:solidFill>
                <a:latin typeface="Linux Biolinum Bold"/>
                <a:ea typeface="Linux Biolinum Bold"/>
                <a:cs typeface="Linux Biolinum Bold"/>
                <a:sym typeface="Linux Biolinum Bold"/>
              </a:rPr>
              <a:t>2021-2026</a:t>
            </a:r>
          </a:p>
        </p:txBody>
      </p:sp>
      <p:sp>
        <p:nvSpPr>
          <p:cNvPr name="TextBox 28" id="28"/>
          <p:cNvSpPr txBox="true"/>
          <p:nvPr/>
        </p:nvSpPr>
        <p:spPr>
          <a:xfrm rot="0">
            <a:off x="13654747" y="5704702"/>
            <a:ext cx="2561522" cy="409575"/>
          </a:xfrm>
          <a:prstGeom prst="rect">
            <a:avLst/>
          </a:prstGeom>
        </p:spPr>
        <p:txBody>
          <a:bodyPr anchor="t" rtlCol="false" tIns="0" lIns="0" bIns="0" rIns="0">
            <a:spAutoFit/>
          </a:bodyPr>
          <a:lstStyle/>
          <a:p>
            <a:pPr algn="ctr">
              <a:lnSpc>
                <a:spcPts val="3000"/>
              </a:lnSpc>
            </a:pPr>
            <a:r>
              <a:rPr lang="en-US" sz="3000">
                <a:solidFill>
                  <a:srgbClr val="231F20"/>
                </a:solidFill>
                <a:latin typeface="Comforter Brush"/>
                <a:ea typeface="Comforter Brush"/>
                <a:cs typeface="Comforter Brush"/>
                <a:sym typeface="Comforter Brush"/>
              </a:rPr>
              <a:t>Fin tech revolution</a:t>
            </a:r>
          </a:p>
        </p:txBody>
      </p:sp>
      <p:sp>
        <p:nvSpPr>
          <p:cNvPr name="TextBox 29" id="29"/>
          <p:cNvSpPr txBox="true"/>
          <p:nvPr/>
        </p:nvSpPr>
        <p:spPr>
          <a:xfrm rot="0">
            <a:off x="11264163" y="6800116"/>
            <a:ext cx="2751481" cy="800100"/>
          </a:xfrm>
          <a:prstGeom prst="rect">
            <a:avLst/>
          </a:prstGeom>
        </p:spPr>
        <p:txBody>
          <a:bodyPr anchor="t" rtlCol="false" tIns="0" lIns="0" bIns="0" rIns="0">
            <a:spAutoFit/>
          </a:bodyPr>
          <a:lstStyle/>
          <a:p>
            <a:pPr algn="ctr">
              <a:lnSpc>
                <a:spcPts val="3000"/>
              </a:lnSpc>
            </a:pPr>
            <a:r>
              <a:rPr lang="en-US" b="true" sz="3000">
                <a:solidFill>
                  <a:srgbClr val="231F20"/>
                </a:solidFill>
                <a:latin typeface="Linux Biolinum Bold"/>
                <a:ea typeface="Linux Biolinum Bold"/>
                <a:cs typeface="Linux Biolinum Bold"/>
                <a:sym typeface="Linux Biolinum Bold"/>
              </a:rPr>
              <a:t>IMPACT REPORT </a:t>
            </a:r>
          </a:p>
        </p:txBody>
      </p:sp>
      <p:sp>
        <p:nvSpPr>
          <p:cNvPr name="TextBox 30" id="30"/>
          <p:cNvSpPr txBox="true"/>
          <p:nvPr/>
        </p:nvSpPr>
        <p:spPr>
          <a:xfrm rot="0">
            <a:off x="11359143" y="8028437"/>
            <a:ext cx="2561522" cy="409575"/>
          </a:xfrm>
          <a:prstGeom prst="rect">
            <a:avLst/>
          </a:prstGeom>
        </p:spPr>
        <p:txBody>
          <a:bodyPr anchor="t" rtlCol="false" tIns="0" lIns="0" bIns="0" rIns="0">
            <a:spAutoFit/>
          </a:bodyPr>
          <a:lstStyle/>
          <a:p>
            <a:pPr algn="ctr">
              <a:lnSpc>
                <a:spcPts val="3000"/>
              </a:lnSpc>
            </a:pPr>
            <a:r>
              <a:rPr lang="en-US" sz="3000">
                <a:solidFill>
                  <a:srgbClr val="231F20"/>
                </a:solidFill>
                <a:latin typeface="Comforter Brush"/>
                <a:ea typeface="Comforter Brush"/>
                <a:cs typeface="Comforter Brush"/>
                <a:sym typeface="Comforter Brush"/>
              </a:rPr>
              <a:t>MSME pulse</a:t>
            </a:r>
          </a:p>
        </p:txBody>
      </p:sp>
      <p:sp>
        <p:nvSpPr>
          <p:cNvPr name="TextBox 31" id="31"/>
          <p:cNvSpPr txBox="true"/>
          <p:nvPr/>
        </p:nvSpPr>
        <p:spPr>
          <a:xfrm rot="0">
            <a:off x="2972509" y="1539006"/>
            <a:ext cx="4827470" cy="4118071"/>
          </a:xfrm>
          <a:prstGeom prst="rect">
            <a:avLst/>
          </a:prstGeom>
        </p:spPr>
        <p:txBody>
          <a:bodyPr anchor="t" rtlCol="false" tIns="0" lIns="0" bIns="0" rIns="0">
            <a:spAutoFit/>
          </a:bodyPr>
          <a:lstStyle/>
          <a:p>
            <a:pPr algn="ctr">
              <a:lnSpc>
                <a:spcPts val="8595"/>
              </a:lnSpc>
            </a:pPr>
            <a:r>
              <a:rPr lang="en-US" sz="9767">
                <a:solidFill>
                  <a:srgbClr val="231F20"/>
                </a:solidFill>
                <a:latin typeface="Comforter Brush"/>
                <a:ea typeface="Comforter Brush"/>
                <a:cs typeface="Comforter Brush"/>
                <a:sym typeface="Comforter Brush"/>
              </a:rPr>
              <a:t>What Already happened</a:t>
            </a:r>
          </a:p>
          <a:p>
            <a:pPr algn="ctr">
              <a:lnSpc>
                <a:spcPts val="639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930" t="-418" r="-1001" b="-11782"/>
            </a:stretch>
          </a:blipFill>
        </p:spPr>
      </p:sp>
      <p:sp>
        <p:nvSpPr>
          <p:cNvPr name="Freeform 3" id="3"/>
          <p:cNvSpPr/>
          <p:nvPr/>
        </p:nvSpPr>
        <p:spPr>
          <a:xfrm flipH="false" flipV="false" rot="5400000">
            <a:off x="-4387507" y="3799478"/>
            <a:ext cx="10832414" cy="2688043"/>
          </a:xfrm>
          <a:custGeom>
            <a:avLst/>
            <a:gdLst/>
            <a:ahLst/>
            <a:cxnLst/>
            <a:rect r="r" b="b" t="t" l="l"/>
            <a:pathLst>
              <a:path h="2688043" w="10832414">
                <a:moveTo>
                  <a:pt x="0" y="0"/>
                </a:moveTo>
                <a:lnTo>
                  <a:pt x="10832414" y="0"/>
                </a:lnTo>
                <a:lnTo>
                  <a:pt x="10832414" y="2688044"/>
                </a:lnTo>
                <a:lnTo>
                  <a:pt x="0" y="268804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9944123" y="3159435"/>
            <a:ext cx="7460477" cy="1840521"/>
          </a:xfrm>
          <a:prstGeom prst="rect">
            <a:avLst/>
          </a:prstGeom>
        </p:spPr>
        <p:txBody>
          <a:bodyPr anchor="t" rtlCol="false" tIns="0" lIns="0" bIns="0" rIns="0">
            <a:spAutoFit/>
          </a:bodyPr>
          <a:lstStyle/>
          <a:p>
            <a:pPr algn="ctr">
              <a:lnSpc>
                <a:spcPts val="14993"/>
              </a:lnSpc>
            </a:pPr>
            <a:r>
              <a:rPr lang="en-US" b="true" sz="10709">
                <a:solidFill>
                  <a:srgbClr val="231F20"/>
                </a:solidFill>
                <a:latin typeface="Linux Biolinum Bold"/>
                <a:ea typeface="Linux Biolinum Bold"/>
                <a:cs typeface="Linux Biolinum Bold"/>
                <a:sym typeface="Linux Biolinum Bold"/>
              </a:rPr>
              <a:t>RESULTS</a:t>
            </a:r>
          </a:p>
        </p:txBody>
      </p:sp>
      <p:sp>
        <p:nvSpPr>
          <p:cNvPr name="Freeform 5" id="5"/>
          <p:cNvSpPr/>
          <p:nvPr/>
        </p:nvSpPr>
        <p:spPr>
          <a:xfrm flipH="false" flipV="false" rot="0">
            <a:off x="482671" y="50573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5400000">
            <a:off x="11846083" y="3655935"/>
            <a:ext cx="10832414" cy="2688043"/>
          </a:xfrm>
          <a:custGeom>
            <a:avLst/>
            <a:gdLst/>
            <a:ahLst/>
            <a:cxnLst/>
            <a:rect r="r" b="b" t="t" l="l"/>
            <a:pathLst>
              <a:path h="2688043" w="10832414">
                <a:moveTo>
                  <a:pt x="0" y="2688043"/>
                </a:moveTo>
                <a:lnTo>
                  <a:pt x="10832414" y="2688043"/>
                </a:lnTo>
                <a:lnTo>
                  <a:pt x="10832414" y="0"/>
                </a:lnTo>
                <a:lnTo>
                  <a:pt x="0" y="0"/>
                </a:lnTo>
                <a:lnTo>
                  <a:pt x="0" y="2688043"/>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0">
            <a:off x="13674361" y="505739"/>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5071815" y="3799478"/>
            <a:ext cx="10832414" cy="2688043"/>
          </a:xfrm>
          <a:custGeom>
            <a:avLst/>
            <a:gdLst/>
            <a:ahLst/>
            <a:cxnLst/>
            <a:rect r="r" b="b" t="t" l="l"/>
            <a:pathLst>
              <a:path h="2688043" w="10832414">
                <a:moveTo>
                  <a:pt x="0" y="0"/>
                </a:moveTo>
                <a:lnTo>
                  <a:pt x="10832413" y="0"/>
                </a:lnTo>
                <a:lnTo>
                  <a:pt x="10832413" y="2688044"/>
                </a:lnTo>
                <a:lnTo>
                  <a:pt x="0" y="2688044"/>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true" rot="5400000">
            <a:off x="2383772" y="3799478"/>
            <a:ext cx="10832414" cy="2688043"/>
          </a:xfrm>
          <a:custGeom>
            <a:avLst/>
            <a:gdLst/>
            <a:ahLst/>
            <a:cxnLst/>
            <a:rect r="r" b="b" t="t" l="l"/>
            <a:pathLst>
              <a:path h="2688043" w="10832414">
                <a:moveTo>
                  <a:pt x="0" y="2688044"/>
                </a:moveTo>
                <a:lnTo>
                  <a:pt x="10832413" y="2688044"/>
                </a:lnTo>
                <a:lnTo>
                  <a:pt x="10832413" y="0"/>
                </a:lnTo>
                <a:lnTo>
                  <a:pt x="0" y="0"/>
                </a:lnTo>
                <a:lnTo>
                  <a:pt x="0" y="2688044"/>
                </a:lnTo>
                <a:close/>
              </a:path>
            </a:pathLst>
          </a:custGeom>
          <a:blipFill>
            <a:blip r:embed="rId7">
              <a:alphaModFix amt="51000"/>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1422911" y="4382994"/>
            <a:ext cx="5525589" cy="1489098"/>
          </a:xfrm>
          <a:prstGeom prst="rect">
            <a:avLst/>
          </a:prstGeom>
        </p:spPr>
        <p:txBody>
          <a:bodyPr anchor="t" rtlCol="false" tIns="0" lIns="0" bIns="0" rIns="0">
            <a:spAutoFit/>
          </a:bodyPr>
          <a:lstStyle/>
          <a:p>
            <a:pPr algn="r">
              <a:lnSpc>
                <a:spcPts val="12160"/>
              </a:lnSpc>
            </a:pPr>
            <a:r>
              <a:rPr lang="en-US" sz="8685">
                <a:solidFill>
                  <a:srgbClr val="231F20"/>
                </a:solidFill>
                <a:latin typeface="Comforter Brush"/>
                <a:ea typeface="Comforter Brush"/>
                <a:cs typeface="Comforter Brush"/>
                <a:sym typeface="Comforter Brush"/>
              </a:rPr>
              <a:t>&amp; Findings</a:t>
            </a:r>
          </a:p>
        </p:txBody>
      </p:sp>
      <p:sp>
        <p:nvSpPr>
          <p:cNvPr name="AutoShape 11" id="11"/>
          <p:cNvSpPr/>
          <p:nvPr/>
        </p:nvSpPr>
        <p:spPr>
          <a:xfrm flipH="true">
            <a:off x="9144000" y="-416250"/>
            <a:ext cx="0" cy="10975957"/>
          </a:xfrm>
          <a:prstGeom prst="line">
            <a:avLst/>
          </a:prstGeom>
          <a:ln cap="flat" w="38100">
            <a:solidFill>
              <a:srgbClr val="231F20">
                <a:alpha val="44706"/>
              </a:srgbClr>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638" r="0" b="-4638"/>
            </a:stretch>
          </a:blipFill>
        </p:spPr>
      </p:sp>
      <p:sp>
        <p:nvSpPr>
          <p:cNvPr name="TextBox 3" id="3"/>
          <p:cNvSpPr txBox="true"/>
          <p:nvPr/>
        </p:nvSpPr>
        <p:spPr>
          <a:xfrm rot="0">
            <a:off x="14044862" y="224791"/>
            <a:ext cx="3616166" cy="419100"/>
          </a:xfrm>
          <a:prstGeom prst="rect">
            <a:avLst/>
          </a:prstGeom>
        </p:spPr>
        <p:txBody>
          <a:bodyPr anchor="t" rtlCol="false" tIns="0" lIns="0" bIns="0" rIns="0">
            <a:spAutoFit/>
          </a:bodyPr>
          <a:lstStyle/>
          <a:p>
            <a:pPr algn="ctr">
              <a:lnSpc>
                <a:spcPts val="3000"/>
              </a:lnSpc>
              <a:spcBef>
                <a:spcPct val="0"/>
              </a:spcBef>
            </a:pPr>
            <a:r>
              <a:rPr lang="en-US" b="true" sz="3000">
                <a:solidFill>
                  <a:srgbClr val="000000"/>
                </a:solidFill>
                <a:latin typeface="Linux Biolinum Bold"/>
                <a:ea typeface="Linux Biolinum Bold"/>
                <a:cs typeface="Linux Biolinum Bold"/>
                <a:sym typeface="Linux Biolinum Bold"/>
              </a:rPr>
              <a:t>COMPANY PROFILE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988" r="0" b="-3988"/>
            </a:stretch>
          </a:blipFill>
        </p:spPr>
      </p:sp>
      <p:sp>
        <p:nvSpPr>
          <p:cNvPr name="TextBox 3" id="3"/>
          <p:cNvSpPr txBox="true"/>
          <p:nvPr/>
        </p:nvSpPr>
        <p:spPr>
          <a:xfrm rot="0">
            <a:off x="14240363" y="377191"/>
            <a:ext cx="3529965" cy="419100"/>
          </a:xfrm>
          <a:prstGeom prst="rect">
            <a:avLst/>
          </a:prstGeom>
        </p:spPr>
        <p:txBody>
          <a:bodyPr anchor="t" rtlCol="false" tIns="0" lIns="0" bIns="0" rIns="0">
            <a:spAutoFit/>
          </a:bodyPr>
          <a:lstStyle/>
          <a:p>
            <a:pPr algn="ctr">
              <a:lnSpc>
                <a:spcPts val="3000"/>
              </a:lnSpc>
              <a:spcBef>
                <a:spcPct val="0"/>
              </a:spcBef>
            </a:pPr>
            <a:r>
              <a:rPr lang="en-US" b="true" sz="3000">
                <a:solidFill>
                  <a:srgbClr val="000000"/>
                </a:solidFill>
                <a:latin typeface="Linux Biolinum Bold"/>
                <a:ea typeface="Linux Biolinum Bold"/>
                <a:cs typeface="Linux Biolinum Bold"/>
                <a:sym typeface="Linux Biolinum Bold"/>
              </a:rPr>
              <a:t>CREDIT NECESSITY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1770" y="-90996"/>
            <a:ext cx="18449770" cy="10377996"/>
          </a:xfrm>
          <a:custGeom>
            <a:avLst/>
            <a:gdLst/>
            <a:ahLst/>
            <a:cxnLst/>
            <a:rect r="r" b="b" t="t" l="l"/>
            <a:pathLst>
              <a:path h="10377996" w="18449770">
                <a:moveTo>
                  <a:pt x="0" y="0"/>
                </a:moveTo>
                <a:lnTo>
                  <a:pt x="18449770" y="0"/>
                </a:lnTo>
                <a:lnTo>
                  <a:pt x="18449770" y="10377996"/>
                </a:lnTo>
                <a:lnTo>
                  <a:pt x="0" y="10377996"/>
                </a:lnTo>
                <a:lnTo>
                  <a:pt x="0" y="0"/>
                </a:lnTo>
                <a:close/>
              </a:path>
            </a:pathLst>
          </a:custGeom>
          <a:blipFill>
            <a:blip r:embed="rId2"/>
            <a:stretch>
              <a:fillRect l="0" t="-4430" r="0" b="-4430"/>
            </a:stretch>
          </a:blipFill>
        </p:spPr>
      </p:sp>
      <p:sp>
        <p:nvSpPr>
          <p:cNvPr name="TextBox 3" id="3"/>
          <p:cNvSpPr txBox="true"/>
          <p:nvPr/>
        </p:nvSpPr>
        <p:spPr>
          <a:xfrm rot="0">
            <a:off x="15249107" y="249401"/>
            <a:ext cx="2279213" cy="419100"/>
          </a:xfrm>
          <a:prstGeom prst="rect">
            <a:avLst/>
          </a:prstGeom>
        </p:spPr>
        <p:txBody>
          <a:bodyPr anchor="t" rtlCol="false" tIns="0" lIns="0" bIns="0" rIns="0">
            <a:spAutoFit/>
          </a:bodyPr>
          <a:lstStyle/>
          <a:p>
            <a:pPr algn="ctr">
              <a:lnSpc>
                <a:spcPts val="3000"/>
              </a:lnSpc>
              <a:spcBef>
                <a:spcPct val="0"/>
              </a:spcBef>
            </a:pPr>
            <a:r>
              <a:rPr lang="en-US" b="true" sz="3000">
                <a:solidFill>
                  <a:srgbClr val="000000"/>
                </a:solidFill>
                <a:latin typeface="Linux Biolinum Bold"/>
                <a:ea typeface="Linux Biolinum Bold"/>
                <a:cs typeface="Linux Biolinum Bold"/>
                <a:sym typeface="Linux Biolinum Bold"/>
              </a:rPr>
              <a:t>CREDIT GAP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141" r="0" b="-5141"/>
            </a:stretch>
          </a:blipFill>
        </p:spPr>
      </p:sp>
      <p:sp>
        <p:nvSpPr>
          <p:cNvPr name="TextBox 3" id="3"/>
          <p:cNvSpPr txBox="true"/>
          <p:nvPr/>
        </p:nvSpPr>
        <p:spPr>
          <a:xfrm rot="0">
            <a:off x="12721673" y="206805"/>
            <a:ext cx="5395941" cy="419100"/>
          </a:xfrm>
          <a:prstGeom prst="rect">
            <a:avLst/>
          </a:prstGeom>
        </p:spPr>
        <p:txBody>
          <a:bodyPr anchor="t" rtlCol="false" tIns="0" lIns="0" bIns="0" rIns="0">
            <a:spAutoFit/>
          </a:bodyPr>
          <a:lstStyle/>
          <a:p>
            <a:pPr algn="ctr">
              <a:lnSpc>
                <a:spcPts val="3000"/>
              </a:lnSpc>
              <a:spcBef>
                <a:spcPct val="0"/>
              </a:spcBef>
            </a:pPr>
            <a:r>
              <a:rPr lang="en-US" b="true" sz="3000">
                <a:solidFill>
                  <a:srgbClr val="000000"/>
                </a:solidFill>
                <a:latin typeface="Linux Biolinum Bold"/>
                <a:ea typeface="Linux Biolinum Bold"/>
                <a:cs typeface="Linux Biolinum Bold"/>
                <a:sym typeface="Linux Biolinum Bold"/>
              </a:rPr>
              <a:t>EXPERIENCE WITH CREDIT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75" t="-429" r="-13761" b="-31700"/>
            </a:stretch>
          </a:blipFill>
        </p:spPr>
      </p:sp>
      <p:sp>
        <p:nvSpPr>
          <p:cNvPr name="Freeform 3" id="3"/>
          <p:cNvSpPr/>
          <p:nvPr/>
        </p:nvSpPr>
        <p:spPr>
          <a:xfrm flipH="false" flipV="false" rot="5400000">
            <a:off x="-4387507" y="3799478"/>
            <a:ext cx="10832414" cy="2688043"/>
          </a:xfrm>
          <a:custGeom>
            <a:avLst/>
            <a:gdLst/>
            <a:ahLst/>
            <a:cxnLst/>
            <a:rect r="r" b="b" t="t" l="l"/>
            <a:pathLst>
              <a:path h="2688043" w="10832414">
                <a:moveTo>
                  <a:pt x="0" y="0"/>
                </a:moveTo>
                <a:lnTo>
                  <a:pt x="10832414" y="0"/>
                </a:lnTo>
                <a:lnTo>
                  <a:pt x="10832414" y="2688044"/>
                </a:lnTo>
                <a:lnTo>
                  <a:pt x="0" y="268804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82671" y="50573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5400000">
            <a:off x="11846083" y="3655935"/>
            <a:ext cx="10832414" cy="2688043"/>
          </a:xfrm>
          <a:custGeom>
            <a:avLst/>
            <a:gdLst/>
            <a:ahLst/>
            <a:cxnLst/>
            <a:rect r="r" b="b" t="t" l="l"/>
            <a:pathLst>
              <a:path h="2688043" w="10832414">
                <a:moveTo>
                  <a:pt x="0" y="2688043"/>
                </a:moveTo>
                <a:lnTo>
                  <a:pt x="10832414" y="2688043"/>
                </a:lnTo>
                <a:lnTo>
                  <a:pt x="10832414" y="0"/>
                </a:lnTo>
                <a:lnTo>
                  <a:pt x="0" y="0"/>
                </a:lnTo>
                <a:lnTo>
                  <a:pt x="0" y="2688043"/>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3674361" y="505739"/>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0149653" y="1965944"/>
            <a:ext cx="6945944" cy="2848193"/>
            <a:chOff x="0" y="0"/>
            <a:chExt cx="1829384" cy="750141"/>
          </a:xfrm>
        </p:grpSpPr>
        <p:sp>
          <p:nvSpPr>
            <p:cNvPr name="Freeform 8" id="8"/>
            <p:cNvSpPr/>
            <p:nvPr/>
          </p:nvSpPr>
          <p:spPr>
            <a:xfrm flipH="false" flipV="false" rot="0">
              <a:off x="0" y="0"/>
              <a:ext cx="1829384" cy="750141"/>
            </a:xfrm>
            <a:custGeom>
              <a:avLst/>
              <a:gdLst/>
              <a:ahLst/>
              <a:cxnLst/>
              <a:rect r="r" b="b" t="t" l="l"/>
              <a:pathLst>
                <a:path h="750141" w="1829384">
                  <a:moveTo>
                    <a:pt x="32323" y="0"/>
                  </a:moveTo>
                  <a:lnTo>
                    <a:pt x="1797061" y="0"/>
                  </a:lnTo>
                  <a:cubicBezTo>
                    <a:pt x="1814913" y="0"/>
                    <a:pt x="1829384" y="14472"/>
                    <a:pt x="1829384" y="32323"/>
                  </a:cubicBezTo>
                  <a:lnTo>
                    <a:pt x="1829384" y="717818"/>
                  </a:lnTo>
                  <a:cubicBezTo>
                    <a:pt x="1829384" y="735670"/>
                    <a:pt x="1814913" y="750141"/>
                    <a:pt x="1797061" y="750141"/>
                  </a:cubicBezTo>
                  <a:lnTo>
                    <a:pt x="32323" y="750141"/>
                  </a:lnTo>
                  <a:cubicBezTo>
                    <a:pt x="14472" y="750141"/>
                    <a:pt x="0" y="735670"/>
                    <a:pt x="0" y="717818"/>
                  </a:cubicBezTo>
                  <a:lnTo>
                    <a:pt x="0" y="32323"/>
                  </a:lnTo>
                  <a:cubicBezTo>
                    <a:pt x="0" y="14472"/>
                    <a:pt x="14472" y="0"/>
                    <a:pt x="32323" y="0"/>
                  </a:cubicBezTo>
                  <a:close/>
                </a:path>
              </a:pathLst>
            </a:custGeom>
            <a:solidFill>
              <a:srgbClr val="FCF7EC">
                <a:alpha val="49804"/>
              </a:srgbClr>
            </a:solidFill>
          </p:spPr>
        </p:sp>
        <p:sp>
          <p:nvSpPr>
            <p:cNvPr name="TextBox 9" id="9"/>
            <p:cNvSpPr txBox="true"/>
            <p:nvPr/>
          </p:nvSpPr>
          <p:spPr>
            <a:xfrm>
              <a:off x="0" y="-38100"/>
              <a:ext cx="1829384" cy="788241"/>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0149653" y="5434981"/>
            <a:ext cx="7109647" cy="3289181"/>
            <a:chOff x="0" y="0"/>
            <a:chExt cx="1872500" cy="866286"/>
          </a:xfrm>
        </p:grpSpPr>
        <p:sp>
          <p:nvSpPr>
            <p:cNvPr name="Freeform 11" id="11"/>
            <p:cNvSpPr/>
            <p:nvPr/>
          </p:nvSpPr>
          <p:spPr>
            <a:xfrm flipH="false" flipV="false" rot="0">
              <a:off x="0" y="0"/>
              <a:ext cx="1872499" cy="866286"/>
            </a:xfrm>
            <a:custGeom>
              <a:avLst/>
              <a:gdLst/>
              <a:ahLst/>
              <a:cxnLst/>
              <a:rect r="r" b="b" t="t" l="l"/>
              <a:pathLst>
                <a:path h="866286" w="1872499">
                  <a:moveTo>
                    <a:pt x="31579" y="0"/>
                  </a:moveTo>
                  <a:lnTo>
                    <a:pt x="1840920" y="0"/>
                  </a:lnTo>
                  <a:cubicBezTo>
                    <a:pt x="1849296" y="0"/>
                    <a:pt x="1857328" y="3327"/>
                    <a:pt x="1863250" y="9249"/>
                  </a:cubicBezTo>
                  <a:cubicBezTo>
                    <a:pt x="1869172" y="15171"/>
                    <a:pt x="1872499" y="23204"/>
                    <a:pt x="1872499" y="31579"/>
                  </a:cubicBezTo>
                  <a:lnTo>
                    <a:pt x="1872499" y="834707"/>
                  </a:lnTo>
                  <a:cubicBezTo>
                    <a:pt x="1872499" y="843083"/>
                    <a:pt x="1869172" y="851115"/>
                    <a:pt x="1863250" y="857037"/>
                  </a:cubicBezTo>
                  <a:cubicBezTo>
                    <a:pt x="1857328" y="862959"/>
                    <a:pt x="1849296" y="866286"/>
                    <a:pt x="1840920" y="866286"/>
                  </a:cubicBezTo>
                  <a:lnTo>
                    <a:pt x="31579" y="866286"/>
                  </a:lnTo>
                  <a:cubicBezTo>
                    <a:pt x="23204" y="866286"/>
                    <a:pt x="15171" y="862959"/>
                    <a:pt x="9249" y="857037"/>
                  </a:cubicBezTo>
                  <a:cubicBezTo>
                    <a:pt x="3327" y="851115"/>
                    <a:pt x="0" y="843083"/>
                    <a:pt x="0" y="834707"/>
                  </a:cubicBezTo>
                  <a:lnTo>
                    <a:pt x="0" y="31579"/>
                  </a:lnTo>
                  <a:cubicBezTo>
                    <a:pt x="0" y="23204"/>
                    <a:pt x="3327" y="15171"/>
                    <a:pt x="9249" y="9249"/>
                  </a:cubicBezTo>
                  <a:cubicBezTo>
                    <a:pt x="15171" y="3327"/>
                    <a:pt x="23204" y="0"/>
                    <a:pt x="31579" y="0"/>
                  </a:cubicBezTo>
                  <a:close/>
                </a:path>
              </a:pathLst>
            </a:custGeom>
            <a:solidFill>
              <a:srgbClr val="FCF7EC">
                <a:alpha val="49804"/>
              </a:srgbClr>
            </a:solidFill>
          </p:spPr>
        </p:sp>
        <p:sp>
          <p:nvSpPr>
            <p:cNvPr name="TextBox 12" id="12"/>
            <p:cNvSpPr txBox="true"/>
            <p:nvPr/>
          </p:nvSpPr>
          <p:spPr>
            <a:xfrm>
              <a:off x="0" y="-38100"/>
              <a:ext cx="1872500" cy="904386"/>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5400000">
            <a:off x="5071815" y="3799478"/>
            <a:ext cx="10832414" cy="2688043"/>
          </a:xfrm>
          <a:custGeom>
            <a:avLst/>
            <a:gdLst/>
            <a:ahLst/>
            <a:cxnLst/>
            <a:rect r="r" b="b" t="t" l="l"/>
            <a:pathLst>
              <a:path h="2688043" w="10832414">
                <a:moveTo>
                  <a:pt x="0" y="0"/>
                </a:moveTo>
                <a:lnTo>
                  <a:pt x="10832413" y="0"/>
                </a:lnTo>
                <a:lnTo>
                  <a:pt x="10832413" y="2688044"/>
                </a:lnTo>
                <a:lnTo>
                  <a:pt x="0" y="2688044"/>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true" rot="5400000">
            <a:off x="2383772" y="3799478"/>
            <a:ext cx="10832414" cy="2688043"/>
          </a:xfrm>
          <a:custGeom>
            <a:avLst/>
            <a:gdLst/>
            <a:ahLst/>
            <a:cxnLst/>
            <a:rect r="r" b="b" t="t" l="l"/>
            <a:pathLst>
              <a:path h="2688043" w="10832414">
                <a:moveTo>
                  <a:pt x="0" y="2688044"/>
                </a:moveTo>
                <a:lnTo>
                  <a:pt x="10832413" y="2688044"/>
                </a:lnTo>
                <a:lnTo>
                  <a:pt x="10832413" y="0"/>
                </a:lnTo>
                <a:lnTo>
                  <a:pt x="0" y="0"/>
                </a:lnTo>
                <a:lnTo>
                  <a:pt x="0" y="2688044"/>
                </a:lnTo>
                <a:close/>
              </a:path>
            </a:pathLst>
          </a:custGeom>
          <a:blipFill>
            <a:blip r:embed="rId7">
              <a:alphaModFix amt="51000"/>
              <a:extLst>
                <a:ext uri="{96DAC541-7B7A-43D3-8B79-37D633B846F1}">
                  <asvg:svgBlip xmlns:asvg="http://schemas.microsoft.com/office/drawing/2016/SVG/main" r:embed="rId8"/>
                </a:ext>
              </a:extLst>
            </a:blip>
            <a:stretch>
              <a:fillRect l="0" t="0" r="0" b="0"/>
            </a:stretch>
          </a:blipFill>
        </p:spPr>
      </p:sp>
      <p:sp>
        <p:nvSpPr>
          <p:cNvPr name="AutoShape 15" id="15"/>
          <p:cNvSpPr/>
          <p:nvPr/>
        </p:nvSpPr>
        <p:spPr>
          <a:xfrm flipH="true">
            <a:off x="9144000" y="-416250"/>
            <a:ext cx="0" cy="10975957"/>
          </a:xfrm>
          <a:prstGeom prst="line">
            <a:avLst/>
          </a:prstGeom>
          <a:ln cap="flat" w="38100">
            <a:solidFill>
              <a:srgbClr val="231F20">
                <a:alpha val="44706"/>
              </a:srgbClr>
            </a:solidFill>
            <a:prstDash val="solid"/>
            <a:headEnd type="none" len="sm" w="sm"/>
            <a:tailEnd type="none" len="sm" w="sm"/>
          </a:ln>
        </p:spPr>
      </p:sp>
      <p:grpSp>
        <p:nvGrpSpPr>
          <p:cNvPr name="Group 16" id="16"/>
          <p:cNvGrpSpPr/>
          <p:nvPr/>
        </p:nvGrpSpPr>
        <p:grpSpPr>
          <a:xfrm rot="0">
            <a:off x="15217832" y="1392638"/>
            <a:ext cx="1429706" cy="1429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0" t="-5865" r="0" b="-5865"/>
              </a:stretch>
            </a:blipFill>
            <a:ln w="66675" cap="sq">
              <a:solidFill>
                <a:srgbClr val="DCD0C0"/>
              </a:solidFill>
              <a:prstDash val="solid"/>
              <a:miter/>
            </a:ln>
          </p:spPr>
        </p:sp>
      </p:grpSp>
      <p:grpSp>
        <p:nvGrpSpPr>
          <p:cNvPr name="Group 18" id="18"/>
          <p:cNvGrpSpPr/>
          <p:nvPr/>
        </p:nvGrpSpPr>
        <p:grpSpPr>
          <a:xfrm rot="0">
            <a:off x="10597713" y="4897429"/>
            <a:ext cx="1429706" cy="142970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8139" r="0" b="-8139"/>
              </a:stretch>
            </a:blipFill>
            <a:ln w="66675" cap="sq">
              <a:solidFill>
                <a:srgbClr val="DCD0C0"/>
              </a:solidFill>
              <a:prstDash val="solid"/>
              <a:miter/>
            </a:ln>
          </p:spPr>
        </p:sp>
      </p:grpSp>
      <p:sp>
        <p:nvSpPr>
          <p:cNvPr name="TextBox 20" id="20"/>
          <p:cNvSpPr txBox="true"/>
          <p:nvPr/>
        </p:nvSpPr>
        <p:spPr>
          <a:xfrm rot="0">
            <a:off x="1639966" y="3432012"/>
            <a:ext cx="5915010" cy="2700904"/>
          </a:xfrm>
          <a:prstGeom prst="rect">
            <a:avLst/>
          </a:prstGeom>
        </p:spPr>
        <p:txBody>
          <a:bodyPr anchor="t" rtlCol="false" tIns="0" lIns="0" bIns="0" rIns="0">
            <a:spAutoFit/>
          </a:bodyPr>
          <a:lstStyle/>
          <a:p>
            <a:pPr algn="ctr">
              <a:lnSpc>
                <a:spcPts val="10250"/>
              </a:lnSpc>
            </a:pPr>
            <a:r>
              <a:rPr lang="en-US" sz="11389">
                <a:solidFill>
                  <a:srgbClr val="231F20"/>
                </a:solidFill>
                <a:latin typeface="Comforter Brush"/>
                <a:ea typeface="Comforter Brush"/>
                <a:cs typeface="Comforter Brush"/>
                <a:sym typeface="Comforter Brush"/>
              </a:rPr>
              <a:t>Owner </a:t>
            </a:r>
          </a:p>
          <a:p>
            <a:pPr algn="ctr">
              <a:lnSpc>
                <a:spcPts val="10250"/>
              </a:lnSpc>
            </a:pPr>
            <a:r>
              <a:rPr lang="en-US" sz="11389">
                <a:solidFill>
                  <a:srgbClr val="231F20"/>
                </a:solidFill>
                <a:latin typeface="Comforter Brush"/>
                <a:ea typeface="Comforter Brush"/>
                <a:cs typeface="Comforter Brush"/>
                <a:sym typeface="Comforter Brush"/>
              </a:rPr>
              <a:t>Reponses</a:t>
            </a:r>
          </a:p>
        </p:txBody>
      </p:sp>
      <p:sp>
        <p:nvSpPr>
          <p:cNvPr name="TextBox 21" id="21"/>
          <p:cNvSpPr txBox="true"/>
          <p:nvPr/>
        </p:nvSpPr>
        <p:spPr>
          <a:xfrm rot="0">
            <a:off x="10597713" y="2896197"/>
            <a:ext cx="6049825" cy="1370581"/>
          </a:xfrm>
          <a:prstGeom prst="rect">
            <a:avLst/>
          </a:prstGeom>
        </p:spPr>
        <p:txBody>
          <a:bodyPr anchor="t" rtlCol="false" tIns="0" lIns="0" bIns="0" rIns="0">
            <a:spAutoFit/>
          </a:bodyPr>
          <a:lstStyle/>
          <a:p>
            <a:pPr algn="just">
              <a:lnSpc>
                <a:spcPts val="2165"/>
              </a:lnSpc>
            </a:pPr>
            <a:r>
              <a:rPr lang="en-US" b="true" sz="2165">
                <a:solidFill>
                  <a:srgbClr val="231F20"/>
                </a:solidFill>
                <a:latin typeface="Linux Biolinum Bold"/>
                <a:ea typeface="Linux Biolinum Bold"/>
                <a:cs typeface="Linux Biolinum Bold"/>
                <a:sym typeface="Linux Biolinum Bold"/>
              </a:rPr>
              <a:t>Have faced difficulties in getting loans due to strict documentation requirements, lack of proper financial records, and eligibility criteria. Loan rejection can also occur because of insufficient collateral or credit history</a:t>
            </a:r>
          </a:p>
        </p:txBody>
      </p:sp>
      <p:sp>
        <p:nvSpPr>
          <p:cNvPr name="TextBox 22" id="22"/>
          <p:cNvSpPr txBox="true"/>
          <p:nvPr/>
        </p:nvSpPr>
        <p:spPr>
          <a:xfrm rot="0">
            <a:off x="11045772" y="6612885"/>
            <a:ext cx="6049825" cy="1641316"/>
          </a:xfrm>
          <a:prstGeom prst="rect">
            <a:avLst/>
          </a:prstGeom>
        </p:spPr>
        <p:txBody>
          <a:bodyPr anchor="t" rtlCol="false" tIns="0" lIns="0" bIns="0" rIns="0">
            <a:spAutoFit/>
          </a:bodyPr>
          <a:lstStyle/>
          <a:p>
            <a:pPr algn="just">
              <a:lnSpc>
                <a:spcPts val="2165"/>
              </a:lnSpc>
            </a:pPr>
            <a:r>
              <a:rPr lang="en-US" b="true" sz="2165">
                <a:solidFill>
                  <a:srgbClr val="231F20"/>
                </a:solidFill>
                <a:latin typeface="Linux Biolinum Bold"/>
                <a:ea typeface="Linux Biolinum Bold"/>
                <a:cs typeface="Linux Biolinum Bold"/>
                <a:sym typeface="Linux Biolinum Bold"/>
              </a:rPr>
              <a:t>“Limited access to credit can lead to missed business opportunities, difficulty in purchasing stock or equipment, delayed expansion, and cash-flow problems. It can directly affect sales, growth, and the ability to meet customer demand</a:t>
            </a:r>
          </a:p>
        </p:txBody>
      </p:sp>
      <p:sp>
        <p:nvSpPr>
          <p:cNvPr name="TextBox 23" id="23"/>
          <p:cNvSpPr txBox="true"/>
          <p:nvPr/>
        </p:nvSpPr>
        <p:spPr>
          <a:xfrm rot="0">
            <a:off x="10597713" y="2191347"/>
            <a:ext cx="3866829" cy="419100"/>
          </a:xfrm>
          <a:prstGeom prst="rect">
            <a:avLst/>
          </a:prstGeom>
        </p:spPr>
        <p:txBody>
          <a:bodyPr anchor="t" rtlCol="false" tIns="0" lIns="0" bIns="0" rIns="0">
            <a:spAutoFit/>
          </a:bodyPr>
          <a:lstStyle/>
          <a:p>
            <a:pPr algn="l">
              <a:lnSpc>
                <a:spcPts val="3000"/>
              </a:lnSpc>
            </a:pPr>
            <a:r>
              <a:rPr lang="en-US" b="true" sz="3000">
                <a:solidFill>
                  <a:srgbClr val="231F20"/>
                </a:solidFill>
                <a:latin typeface="Linux Biolinum Bold"/>
                <a:ea typeface="Linux Biolinum Bold"/>
                <a:cs typeface="Linux Biolinum Bold"/>
                <a:sym typeface="Linux Biolinum Bold"/>
              </a:rPr>
              <a:t>RADHA KRISHNAN</a:t>
            </a:r>
          </a:p>
        </p:txBody>
      </p:sp>
      <p:sp>
        <p:nvSpPr>
          <p:cNvPr name="TextBox 24" id="24"/>
          <p:cNvSpPr txBox="true"/>
          <p:nvPr/>
        </p:nvSpPr>
        <p:spPr>
          <a:xfrm rot="0">
            <a:off x="12506469" y="5658408"/>
            <a:ext cx="4190369" cy="419100"/>
          </a:xfrm>
          <a:prstGeom prst="rect">
            <a:avLst/>
          </a:prstGeom>
        </p:spPr>
        <p:txBody>
          <a:bodyPr anchor="t" rtlCol="false" tIns="0" lIns="0" bIns="0" rIns="0">
            <a:spAutoFit/>
          </a:bodyPr>
          <a:lstStyle/>
          <a:p>
            <a:pPr algn="r">
              <a:lnSpc>
                <a:spcPts val="3000"/>
              </a:lnSpc>
            </a:pPr>
            <a:r>
              <a:rPr lang="en-US" b="true" sz="3000">
                <a:solidFill>
                  <a:srgbClr val="231F20"/>
                </a:solidFill>
                <a:latin typeface="Linux Biolinum Bold"/>
                <a:ea typeface="Linux Biolinum Bold"/>
                <a:cs typeface="Linux Biolinum Bold"/>
                <a:sym typeface="Linux Biolinum Bold"/>
              </a:rPr>
              <a:t>ANONYMOUS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DAHW7ksPGkw</dc:identifier>
  <dcterms:modified xsi:type="dcterms:W3CDTF">2011-08-01T06:04:30Z</dcterms:modified>
  <cp:revision>1</cp:revision>
  <dc:title>Brown Vintage Watercolor Creative Portfolio Presentation</dc:title>
</cp:coreProperties>
</file>